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26" r:id="rId2"/>
    <p:sldId id="304" r:id="rId3"/>
    <p:sldId id="327" r:id="rId4"/>
    <p:sldId id="328" r:id="rId5"/>
    <p:sldId id="263" r:id="rId6"/>
    <p:sldId id="264" r:id="rId7"/>
    <p:sldId id="329" r:id="rId8"/>
    <p:sldId id="265" r:id="rId9"/>
    <p:sldId id="306" r:id="rId10"/>
    <p:sldId id="330" r:id="rId11"/>
    <p:sldId id="331" r:id="rId12"/>
    <p:sldId id="274" r:id="rId13"/>
    <p:sldId id="279" r:id="rId14"/>
    <p:sldId id="313" r:id="rId15"/>
    <p:sldId id="314" r:id="rId16"/>
    <p:sldId id="332" r:id="rId17"/>
    <p:sldId id="307" r:id="rId18"/>
    <p:sldId id="333" r:id="rId19"/>
    <p:sldId id="281" r:id="rId20"/>
    <p:sldId id="323" r:id="rId21"/>
    <p:sldId id="325" r:id="rId22"/>
    <p:sldId id="293" r:id="rId23"/>
    <p:sldId id="309" r:id="rId24"/>
    <p:sldId id="298" r:id="rId25"/>
    <p:sldId id="316" r:id="rId26"/>
    <p:sldId id="299" r:id="rId27"/>
    <p:sldId id="317" r:id="rId28"/>
    <p:sldId id="324" r:id="rId29"/>
    <p:sldId id="301" r:id="rId30"/>
    <p:sldId id="285" r:id="rId31"/>
    <p:sldId id="287" r:id="rId32"/>
    <p:sldId id="288" r:id="rId33"/>
    <p:sldId id="295" r:id="rId34"/>
    <p:sldId id="296" r:id="rId35"/>
    <p:sldId id="273" r:id="rId36"/>
    <p:sldId id="319" r:id="rId37"/>
    <p:sldId id="290" r:id="rId38"/>
    <p:sldId id="322" r:id="rId39"/>
    <p:sldId id="318" r:id="rId40"/>
    <p:sldId id="320" r:id="rId41"/>
    <p:sldId id="334" r:id="rId42"/>
    <p:sldId id="303" r:id="rId43"/>
    <p:sldId id="305" r:id="rId4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CC"/>
    <a:srgbClr val="0033CC"/>
    <a:srgbClr val="385D8A"/>
    <a:srgbClr val="4F81BD"/>
    <a:srgbClr val="C4C4C4"/>
    <a:srgbClr val="17356C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9" autoAdjust="0"/>
    <p:restoredTop sz="72064" autoAdjust="0"/>
  </p:normalViewPr>
  <p:slideViewPr>
    <p:cSldViewPr>
      <p:cViewPr varScale="1">
        <p:scale>
          <a:sx n="106" d="100"/>
          <a:sy n="106" d="100"/>
        </p:scale>
        <p:origin x="129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482"/>
    </p:cViewPr>
  </p:sorterViewPr>
  <p:notesViewPr>
    <p:cSldViewPr showGuides="1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cm\IHK-Abschlussprojekt\Schmierzettel\Kostenaufstellung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cm\IHK-Abschlussprojekt\Schmierzettel\Kostenaufstellun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Tabelle3!$L$10</c:f>
              <c:strCache>
                <c:ptCount val="1"/>
                <c:pt idx="0">
                  <c:v>Analyse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Tabelle3!$M$10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2C-4457-89F4-358ACAF317E1}"/>
            </c:ext>
          </c:extLst>
        </c:ser>
        <c:ser>
          <c:idx val="1"/>
          <c:order val="1"/>
          <c:tx>
            <c:strRef>
              <c:f>Tabelle3!$L$11</c:f>
              <c:strCache>
                <c:ptCount val="1"/>
                <c:pt idx="0">
                  <c:v>Entwurf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Tabelle3!$M$11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2C-4457-89F4-358ACAF317E1}"/>
            </c:ext>
          </c:extLst>
        </c:ser>
        <c:ser>
          <c:idx val="2"/>
          <c:order val="2"/>
          <c:tx>
            <c:strRef>
              <c:f>Tabelle3!$L$12</c:f>
              <c:strCache>
                <c:ptCount val="1"/>
                <c:pt idx="0">
                  <c:v>Implementierung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Tabelle3!$M$12</c:f>
              <c:numCache>
                <c:formatCode>General</c:formatCode>
                <c:ptCount val="1"/>
                <c:pt idx="0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2C-4457-89F4-358ACAF317E1}"/>
            </c:ext>
          </c:extLst>
        </c:ser>
        <c:ser>
          <c:idx val="3"/>
          <c:order val="3"/>
          <c:tx>
            <c:strRef>
              <c:f>Tabelle3!$L$13</c:f>
              <c:strCache>
                <c:ptCount val="1"/>
                <c:pt idx="0">
                  <c:v>Deployment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Tabelle3!$M$13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D2C-4457-89F4-358ACAF317E1}"/>
            </c:ext>
          </c:extLst>
        </c:ser>
        <c:ser>
          <c:idx val="4"/>
          <c:order val="4"/>
          <c:tx>
            <c:strRef>
              <c:f>Tabelle3!$L$14</c:f>
              <c:strCache>
                <c:ptCount val="1"/>
                <c:pt idx="0">
                  <c:v>Dokumentation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Tabelle3!$M$14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2C-4457-89F4-358ACAF317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172779392"/>
        <c:axId val="172780928"/>
      </c:barChart>
      <c:catAx>
        <c:axId val="1727793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2780928"/>
        <c:crosses val="autoZero"/>
        <c:auto val="1"/>
        <c:lblAlgn val="ctr"/>
        <c:lblOffset val="100"/>
        <c:noMultiLvlLbl val="0"/>
      </c:catAx>
      <c:valAx>
        <c:axId val="1727809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2779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de-DE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8939365723243484"/>
          <c:y val="0.13773268195078656"/>
          <c:w val="0.59150415573053372"/>
          <c:h val="0.77878939045662765"/>
        </c:manualLayout>
      </c:layout>
      <c:scatterChart>
        <c:scatterStyle val="lineMarker"/>
        <c:varyColors val="0"/>
        <c:ser>
          <c:idx val="0"/>
          <c:order val="0"/>
          <c:tx>
            <c:strRef>
              <c:f>Amortisation!$B$30</c:f>
              <c:strCache>
                <c:ptCount val="1"/>
                <c:pt idx="0">
                  <c:v>alt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Amortisation!$A$31:$A$38</c:f>
              <c:numCache>
                <c:formatCode>General</c:formatCode>
                <c:ptCount val="8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4</c:v>
                </c:pt>
              </c:numCache>
            </c:numRef>
          </c:xVal>
          <c:yVal>
            <c:numRef>
              <c:f>Amortisation!$B$31:$B$38</c:f>
              <c:numCache>
                <c:formatCode>_(* #,##0.00_);_(* \(#,##0.00\);_(* "-"??_);_(@_)</c:formatCode>
                <c:ptCount val="8"/>
                <c:pt idx="0">
                  <c:v>0</c:v>
                </c:pt>
                <c:pt idx="1">
                  <c:v>560</c:v>
                </c:pt>
                <c:pt idx="2">
                  <c:v>1120</c:v>
                </c:pt>
                <c:pt idx="3">
                  <c:v>1680</c:v>
                </c:pt>
                <c:pt idx="4">
                  <c:v>2240</c:v>
                </c:pt>
                <c:pt idx="5">
                  <c:v>2800</c:v>
                </c:pt>
                <c:pt idx="6">
                  <c:v>3360</c:v>
                </c:pt>
                <c:pt idx="7">
                  <c:v>4480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7EC-4047-BC06-AD9516165EA4}"/>
            </c:ext>
          </c:extLst>
        </c:ser>
        <c:ser>
          <c:idx val="1"/>
          <c:order val="1"/>
          <c:tx>
            <c:strRef>
              <c:f>Amortisation!$C$30</c:f>
              <c:strCache>
                <c:ptCount val="1"/>
                <c:pt idx="0">
                  <c:v>neu</c:v>
                </c:pt>
              </c:strCache>
            </c:strRef>
          </c:tx>
          <c:spPr>
            <a:ln>
              <a:solidFill>
                <a:srgbClr val="00B050"/>
              </a:solidFill>
            </a:ln>
          </c:spPr>
          <c:marker>
            <c:symbol val="none"/>
          </c:marker>
          <c:xVal>
            <c:numRef>
              <c:f>Amortisation!$A$31:$A$38</c:f>
              <c:numCache>
                <c:formatCode>General</c:formatCode>
                <c:ptCount val="8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4</c:v>
                </c:pt>
              </c:numCache>
            </c:numRef>
          </c:xVal>
          <c:yVal>
            <c:numRef>
              <c:f>Amortisation!$C$31:$C$38</c:f>
              <c:numCache>
                <c:formatCode>_(* #,##0.00_);_(* \(#,##0.00\);_(* "-"??_);_(@_)</c:formatCode>
                <c:ptCount val="8"/>
                <c:pt idx="0">
                  <c:v>2305</c:v>
                </c:pt>
                <c:pt idx="1">
                  <c:v>2385</c:v>
                </c:pt>
                <c:pt idx="2">
                  <c:v>2465</c:v>
                </c:pt>
                <c:pt idx="3">
                  <c:v>2545</c:v>
                </c:pt>
                <c:pt idx="4">
                  <c:v>2625</c:v>
                </c:pt>
                <c:pt idx="5">
                  <c:v>2705</c:v>
                </c:pt>
                <c:pt idx="6">
                  <c:v>2785</c:v>
                </c:pt>
                <c:pt idx="7">
                  <c:v>2945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7EC-4047-BC06-AD9516165EA4}"/>
            </c:ext>
          </c:extLst>
        </c:ser>
        <c:ser>
          <c:idx val="2"/>
          <c:order val="2"/>
          <c:tx>
            <c:v>BEP</c:v>
          </c:tx>
          <c:marker>
            <c:symbol val="none"/>
          </c:marker>
          <c:dPt>
            <c:idx val="1"/>
            <c:bubble3D val="0"/>
            <c:spPr>
              <a:ln w="12700" cap="sq">
                <a:solidFill>
                  <a:schemeClr val="tx1"/>
                </a:solidFill>
                <a:prstDash val="sysDash"/>
                <a:round/>
              </a:ln>
            </c:spPr>
            <c:extLst>
              <c:ext xmlns:c16="http://schemas.microsoft.com/office/drawing/2014/chart" uri="{C3380CC4-5D6E-409C-BE32-E72D297353CC}">
                <c16:uniqueId val="{00000003-E7EC-4047-BC06-AD9516165EA4}"/>
              </c:ext>
            </c:extLst>
          </c:dPt>
          <c:dLbls>
            <c:dLbl>
              <c:idx val="0"/>
              <c:layout>
                <c:manualLayout>
                  <c:x val="4.0576019788944664E-2"/>
                  <c:y val="-1.8023578700263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EC-4047-BC06-AD9516165EA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EC-4047-BC06-AD9516165E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Amortisation!$A$45:$A$46</c:f>
              <c:numCache>
                <c:formatCode>General</c:formatCode>
                <c:ptCount val="2"/>
                <c:pt idx="0">
                  <c:v>0</c:v>
                </c:pt>
                <c:pt idx="1">
                  <c:v>2.4010416666666665</c:v>
                </c:pt>
              </c:numCache>
            </c:numRef>
          </c:xVal>
          <c:yVal>
            <c:numRef>
              <c:f>Amortisation!$B$45:$B$46</c:f>
              <c:numCache>
                <c:formatCode>_(* #,##0.00_);_(* \(#,##0.00\);_(* "-"??_);_(@_)</c:formatCode>
                <c:ptCount val="2"/>
                <c:pt idx="0">
                  <c:v>2689.1666666666665</c:v>
                </c:pt>
                <c:pt idx="1">
                  <c:v>2689.1666666666665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7EC-4047-BC06-AD9516165EA4}"/>
            </c:ext>
          </c:extLst>
        </c:ser>
        <c:ser>
          <c:idx val="3"/>
          <c:order val="3"/>
          <c:tx>
            <c:v>BEP 2</c:v>
          </c:tx>
          <c:spPr>
            <a:ln w="12700" cap="sq">
              <a:solidFill>
                <a:schemeClr val="tx1"/>
              </a:solidFill>
              <a:prstDash val="sysDash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5.5633471468433992E-3"/>
                  <c:y val="-8.0635030874448024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7EC-4047-BC06-AD9516165EA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EC-4047-BC06-AD9516165EA4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de-DE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Amortisation!$A$49:$A$50</c:f>
              <c:numCache>
                <c:formatCode>General</c:formatCode>
                <c:ptCount val="2"/>
                <c:pt idx="0">
                  <c:v>2.4010416666666665</c:v>
                </c:pt>
                <c:pt idx="1">
                  <c:v>2.4010416666666665</c:v>
                </c:pt>
              </c:numCache>
            </c:numRef>
          </c:xVal>
          <c:yVal>
            <c:numRef>
              <c:f>Amortisation!$B$49:$B$50</c:f>
              <c:numCache>
                <c:formatCode>_(* #,##0.00_);_(* \(#,##0.00\);_(* "-"??_);_(@_)</c:formatCode>
                <c:ptCount val="2"/>
                <c:pt idx="0" formatCode="General">
                  <c:v>0</c:v>
                </c:pt>
                <c:pt idx="1">
                  <c:v>2689.1666666666665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E7EC-4047-BC06-AD9516165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865024"/>
        <c:axId val="172866560"/>
      </c:scatterChart>
      <c:valAx>
        <c:axId val="172865024"/>
        <c:scaling>
          <c:orientation val="minMax"/>
          <c:max val="4"/>
          <c:min val="0"/>
        </c:scaling>
        <c:delete val="0"/>
        <c:axPos val="b"/>
        <c:numFmt formatCode="#\ ?/?" sourceLinked="0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de-DE"/>
          </a:p>
        </c:txPr>
        <c:crossAx val="172866560"/>
        <c:crosses val="autoZero"/>
        <c:crossBetween val="midCat"/>
        <c:majorUnit val="1"/>
      </c:valAx>
      <c:valAx>
        <c:axId val="172866560"/>
        <c:scaling>
          <c:orientation val="minMax"/>
          <c:max val="3000"/>
        </c:scaling>
        <c:delete val="0"/>
        <c:axPos val="l"/>
        <c:majorGridlines/>
        <c:numFmt formatCode="_(* #,##0.00_);_(* \(#,##0.0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de-DE"/>
          </a:p>
        </c:txPr>
        <c:crossAx val="172865024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4CDB16-0215-4E87-B58D-3F59B427E6E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20E5974-4498-4C60-9B5D-FEE24231A167}">
      <dgm:prSet phldrT="[Text]" phldr="0"/>
      <dgm:spPr/>
      <dgm:t>
        <a:bodyPr/>
        <a:lstStyle/>
        <a:p>
          <a:r>
            <a:rPr lang="de-DE" dirty="0"/>
            <a:t>Extrahieren</a:t>
          </a:r>
        </a:p>
      </dgm:t>
    </dgm:pt>
    <dgm:pt modelId="{15B3458A-A2B3-44E6-946F-9C460AD4B849}" type="parTrans" cxnId="{02FBC187-D81F-4E13-9983-F1AF749058E7}">
      <dgm:prSet/>
      <dgm:spPr/>
      <dgm:t>
        <a:bodyPr/>
        <a:lstStyle/>
        <a:p>
          <a:endParaRPr lang="de-DE"/>
        </a:p>
      </dgm:t>
    </dgm:pt>
    <dgm:pt modelId="{B14F976C-84FF-4413-A2E4-CAF79B482EC2}" type="sibTrans" cxnId="{02FBC187-D81F-4E13-9983-F1AF749058E7}">
      <dgm:prSet/>
      <dgm:spPr/>
      <dgm:t>
        <a:bodyPr/>
        <a:lstStyle/>
        <a:p>
          <a:endParaRPr lang="de-DE"/>
        </a:p>
      </dgm:t>
    </dgm:pt>
    <dgm:pt modelId="{93AEB666-D127-4B2A-88FB-165BC9829981}">
      <dgm:prSet phldrT="[Text]" phldr="0"/>
      <dgm:spPr/>
      <dgm:t>
        <a:bodyPr/>
        <a:lstStyle/>
        <a:p>
          <a:r>
            <a:rPr lang="de-DE" dirty="0"/>
            <a:t>Transformieren</a:t>
          </a:r>
        </a:p>
      </dgm:t>
    </dgm:pt>
    <dgm:pt modelId="{1BDA943A-53A5-47AC-A67F-A6FACA5ECA4C}" type="parTrans" cxnId="{955B223E-84C5-453A-9F37-2F3FBF672E59}">
      <dgm:prSet/>
      <dgm:spPr/>
      <dgm:t>
        <a:bodyPr/>
        <a:lstStyle/>
        <a:p>
          <a:endParaRPr lang="de-DE"/>
        </a:p>
      </dgm:t>
    </dgm:pt>
    <dgm:pt modelId="{3719152A-3563-4973-AFAB-CFF66642557E}" type="sibTrans" cxnId="{955B223E-84C5-453A-9F37-2F3FBF672E59}">
      <dgm:prSet/>
      <dgm:spPr/>
      <dgm:t>
        <a:bodyPr/>
        <a:lstStyle/>
        <a:p>
          <a:endParaRPr lang="de-DE"/>
        </a:p>
      </dgm:t>
    </dgm:pt>
    <dgm:pt modelId="{CBE3CC31-E6BE-4A31-8723-5151CE469317}">
      <dgm:prSet phldrT="[Text]" phldr="0"/>
      <dgm:spPr/>
      <dgm:t>
        <a:bodyPr/>
        <a:lstStyle/>
        <a:p>
          <a:r>
            <a:rPr lang="de-DE" dirty="0"/>
            <a:t>Laden</a:t>
          </a:r>
        </a:p>
      </dgm:t>
    </dgm:pt>
    <dgm:pt modelId="{87974321-8180-41DF-B41C-0777395FD2CC}" type="parTrans" cxnId="{25727412-07ED-4A11-9833-3ACB00B13795}">
      <dgm:prSet/>
      <dgm:spPr/>
      <dgm:t>
        <a:bodyPr/>
        <a:lstStyle/>
        <a:p>
          <a:endParaRPr lang="de-DE"/>
        </a:p>
      </dgm:t>
    </dgm:pt>
    <dgm:pt modelId="{497F7571-343A-4B20-855B-4FD9EA59AF75}" type="sibTrans" cxnId="{25727412-07ED-4A11-9833-3ACB00B13795}">
      <dgm:prSet/>
      <dgm:spPr/>
      <dgm:t>
        <a:bodyPr/>
        <a:lstStyle/>
        <a:p>
          <a:endParaRPr lang="de-DE"/>
        </a:p>
      </dgm:t>
    </dgm:pt>
    <dgm:pt modelId="{23F0F873-C411-43BD-AF0A-7E69C311B0F5}" type="pres">
      <dgm:prSet presAssocID="{C34CDB16-0215-4E87-B58D-3F59B427E6EF}" presName="Name0" presStyleCnt="0">
        <dgm:presLayoutVars>
          <dgm:dir/>
          <dgm:resizeHandles val="exact"/>
        </dgm:presLayoutVars>
      </dgm:prSet>
      <dgm:spPr/>
    </dgm:pt>
    <dgm:pt modelId="{538B3A94-C247-44D8-B7B5-654275940605}" type="pres">
      <dgm:prSet presAssocID="{C20E5974-4498-4C60-9B5D-FEE24231A167}" presName="node" presStyleLbl="node1" presStyleIdx="0" presStyleCnt="3" custLinFactX="-15586" custLinFactY="-100000" custLinFactNeighborX="-100000" custLinFactNeighborY="-143928">
        <dgm:presLayoutVars>
          <dgm:bulletEnabled val="1"/>
        </dgm:presLayoutVars>
      </dgm:prSet>
      <dgm:spPr/>
    </dgm:pt>
    <dgm:pt modelId="{FB86C94F-CDA7-4FA5-BDD3-4C5584FAEF76}" type="pres">
      <dgm:prSet presAssocID="{B14F976C-84FF-4413-A2E4-CAF79B482EC2}" presName="sibTrans" presStyleLbl="sibTrans2D1" presStyleIdx="0" presStyleCnt="2"/>
      <dgm:spPr/>
    </dgm:pt>
    <dgm:pt modelId="{6B253E9E-682E-4C25-B95E-771CBE029291}" type="pres">
      <dgm:prSet presAssocID="{B14F976C-84FF-4413-A2E4-CAF79B482EC2}" presName="connectorText" presStyleLbl="sibTrans2D1" presStyleIdx="0" presStyleCnt="2"/>
      <dgm:spPr/>
    </dgm:pt>
    <dgm:pt modelId="{B6F3C504-743D-4CC5-94AE-7EC84020FDDD}" type="pres">
      <dgm:prSet presAssocID="{93AEB666-D127-4B2A-88FB-165BC9829981}" presName="node" presStyleLbl="node1" presStyleIdx="1" presStyleCnt="3">
        <dgm:presLayoutVars>
          <dgm:bulletEnabled val="1"/>
        </dgm:presLayoutVars>
      </dgm:prSet>
      <dgm:spPr/>
    </dgm:pt>
    <dgm:pt modelId="{8A25A2A6-0117-40CD-963D-68A4BE126D98}" type="pres">
      <dgm:prSet presAssocID="{3719152A-3563-4973-AFAB-CFF66642557E}" presName="sibTrans" presStyleLbl="sibTrans2D1" presStyleIdx="1" presStyleCnt="2"/>
      <dgm:spPr/>
    </dgm:pt>
    <dgm:pt modelId="{FAD424D9-9E48-43AE-B554-E872002A1FDE}" type="pres">
      <dgm:prSet presAssocID="{3719152A-3563-4973-AFAB-CFF66642557E}" presName="connectorText" presStyleLbl="sibTrans2D1" presStyleIdx="1" presStyleCnt="2"/>
      <dgm:spPr/>
    </dgm:pt>
    <dgm:pt modelId="{6199B112-1EB2-447D-A5AF-00ED84F30BEA}" type="pres">
      <dgm:prSet presAssocID="{CBE3CC31-E6BE-4A31-8723-5151CE469317}" presName="node" presStyleLbl="node1" presStyleIdx="2" presStyleCnt="3">
        <dgm:presLayoutVars>
          <dgm:bulletEnabled val="1"/>
        </dgm:presLayoutVars>
      </dgm:prSet>
      <dgm:spPr/>
    </dgm:pt>
  </dgm:ptLst>
  <dgm:cxnLst>
    <dgm:cxn modelId="{ED73A201-730A-41DD-B2F0-2AFE97B302EB}" type="presOf" srcId="{C34CDB16-0215-4E87-B58D-3F59B427E6EF}" destId="{23F0F873-C411-43BD-AF0A-7E69C311B0F5}" srcOrd="0" destOrd="0" presId="urn:microsoft.com/office/officeart/2005/8/layout/process1"/>
    <dgm:cxn modelId="{25727412-07ED-4A11-9833-3ACB00B13795}" srcId="{C34CDB16-0215-4E87-B58D-3F59B427E6EF}" destId="{CBE3CC31-E6BE-4A31-8723-5151CE469317}" srcOrd="2" destOrd="0" parTransId="{87974321-8180-41DF-B41C-0777395FD2CC}" sibTransId="{497F7571-343A-4B20-855B-4FD9EA59AF75}"/>
    <dgm:cxn modelId="{69512C28-1AE1-4957-85BB-4DFFC5FC4013}" type="presOf" srcId="{CBE3CC31-E6BE-4A31-8723-5151CE469317}" destId="{6199B112-1EB2-447D-A5AF-00ED84F30BEA}" srcOrd="0" destOrd="0" presId="urn:microsoft.com/office/officeart/2005/8/layout/process1"/>
    <dgm:cxn modelId="{E34A5B32-BE33-40DC-A4B0-08E44C9FC5E4}" type="presOf" srcId="{93AEB666-D127-4B2A-88FB-165BC9829981}" destId="{B6F3C504-743D-4CC5-94AE-7EC84020FDDD}" srcOrd="0" destOrd="0" presId="urn:microsoft.com/office/officeart/2005/8/layout/process1"/>
    <dgm:cxn modelId="{955B223E-84C5-453A-9F37-2F3FBF672E59}" srcId="{C34CDB16-0215-4E87-B58D-3F59B427E6EF}" destId="{93AEB666-D127-4B2A-88FB-165BC9829981}" srcOrd="1" destOrd="0" parTransId="{1BDA943A-53A5-47AC-A67F-A6FACA5ECA4C}" sibTransId="{3719152A-3563-4973-AFAB-CFF66642557E}"/>
    <dgm:cxn modelId="{A7170B44-6B91-4323-B213-C4661B0F1301}" type="presOf" srcId="{C20E5974-4498-4C60-9B5D-FEE24231A167}" destId="{538B3A94-C247-44D8-B7B5-654275940605}" srcOrd="0" destOrd="0" presId="urn:microsoft.com/office/officeart/2005/8/layout/process1"/>
    <dgm:cxn modelId="{02FBC187-D81F-4E13-9983-F1AF749058E7}" srcId="{C34CDB16-0215-4E87-B58D-3F59B427E6EF}" destId="{C20E5974-4498-4C60-9B5D-FEE24231A167}" srcOrd="0" destOrd="0" parTransId="{15B3458A-A2B3-44E6-946F-9C460AD4B849}" sibTransId="{B14F976C-84FF-4413-A2E4-CAF79B482EC2}"/>
    <dgm:cxn modelId="{05CED08D-F9CB-40F0-9127-24D3E0E93FED}" type="presOf" srcId="{B14F976C-84FF-4413-A2E4-CAF79B482EC2}" destId="{FB86C94F-CDA7-4FA5-BDD3-4C5584FAEF76}" srcOrd="0" destOrd="0" presId="urn:microsoft.com/office/officeart/2005/8/layout/process1"/>
    <dgm:cxn modelId="{9C8659A5-D47B-43AC-8D0E-A15577584951}" type="presOf" srcId="{B14F976C-84FF-4413-A2E4-CAF79B482EC2}" destId="{6B253E9E-682E-4C25-B95E-771CBE029291}" srcOrd="1" destOrd="0" presId="urn:microsoft.com/office/officeart/2005/8/layout/process1"/>
    <dgm:cxn modelId="{DE3AE6A8-1EC8-4C6C-9B27-5167E659282E}" type="presOf" srcId="{3719152A-3563-4973-AFAB-CFF66642557E}" destId="{FAD424D9-9E48-43AE-B554-E872002A1FDE}" srcOrd="1" destOrd="0" presId="urn:microsoft.com/office/officeart/2005/8/layout/process1"/>
    <dgm:cxn modelId="{A26807AD-72DB-4303-B276-223CDA073C12}" type="presOf" srcId="{3719152A-3563-4973-AFAB-CFF66642557E}" destId="{8A25A2A6-0117-40CD-963D-68A4BE126D98}" srcOrd="0" destOrd="0" presId="urn:microsoft.com/office/officeart/2005/8/layout/process1"/>
    <dgm:cxn modelId="{29109056-609F-4626-8F9E-6E5560A8D10E}" type="presParOf" srcId="{23F0F873-C411-43BD-AF0A-7E69C311B0F5}" destId="{538B3A94-C247-44D8-B7B5-654275940605}" srcOrd="0" destOrd="0" presId="urn:microsoft.com/office/officeart/2005/8/layout/process1"/>
    <dgm:cxn modelId="{7815C0EC-812A-41B7-82C5-9E5F43DCB657}" type="presParOf" srcId="{23F0F873-C411-43BD-AF0A-7E69C311B0F5}" destId="{FB86C94F-CDA7-4FA5-BDD3-4C5584FAEF76}" srcOrd="1" destOrd="0" presId="urn:microsoft.com/office/officeart/2005/8/layout/process1"/>
    <dgm:cxn modelId="{30F4FD4B-EEDC-44BF-91B7-F1B72C4676F7}" type="presParOf" srcId="{FB86C94F-CDA7-4FA5-BDD3-4C5584FAEF76}" destId="{6B253E9E-682E-4C25-B95E-771CBE029291}" srcOrd="0" destOrd="0" presId="urn:microsoft.com/office/officeart/2005/8/layout/process1"/>
    <dgm:cxn modelId="{4D0F1C8F-EDC6-4163-91EA-9319E679A004}" type="presParOf" srcId="{23F0F873-C411-43BD-AF0A-7E69C311B0F5}" destId="{B6F3C504-743D-4CC5-94AE-7EC84020FDDD}" srcOrd="2" destOrd="0" presId="urn:microsoft.com/office/officeart/2005/8/layout/process1"/>
    <dgm:cxn modelId="{7857BF17-82D7-4C36-A5C5-9CD7942FFFB1}" type="presParOf" srcId="{23F0F873-C411-43BD-AF0A-7E69C311B0F5}" destId="{8A25A2A6-0117-40CD-963D-68A4BE126D98}" srcOrd="3" destOrd="0" presId="urn:microsoft.com/office/officeart/2005/8/layout/process1"/>
    <dgm:cxn modelId="{0E777D5C-E133-459E-9D51-AEB767E99052}" type="presParOf" srcId="{8A25A2A6-0117-40CD-963D-68A4BE126D98}" destId="{FAD424D9-9E48-43AE-B554-E872002A1FDE}" srcOrd="0" destOrd="0" presId="urn:microsoft.com/office/officeart/2005/8/layout/process1"/>
    <dgm:cxn modelId="{42D06A7D-DFB8-4C73-AA72-D545C7674860}" type="presParOf" srcId="{23F0F873-C411-43BD-AF0A-7E69C311B0F5}" destId="{6199B112-1EB2-447D-A5AF-00ED84F30BE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B3A94-C247-44D8-B7B5-654275940605}">
      <dsp:nvSpPr>
        <dsp:cNvPr id="0" name=""/>
        <dsp:cNvSpPr/>
      </dsp:nvSpPr>
      <dsp:spPr>
        <a:xfrm>
          <a:off x="0" y="0"/>
          <a:ext cx="1986197" cy="879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Extrahieren</a:t>
          </a:r>
        </a:p>
      </dsp:txBody>
      <dsp:txXfrm>
        <a:off x="25771" y="25771"/>
        <a:ext cx="1934655" cy="828330"/>
      </dsp:txXfrm>
    </dsp:sp>
    <dsp:sp modelId="{FB86C94F-CDA7-4FA5-BDD3-4C5584FAEF76}">
      <dsp:nvSpPr>
        <dsp:cNvPr id="0" name=""/>
        <dsp:cNvSpPr/>
      </dsp:nvSpPr>
      <dsp:spPr>
        <a:xfrm>
          <a:off x="2186478" y="193647"/>
          <a:ext cx="424595" cy="4925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/>
        </a:p>
      </dsp:txBody>
      <dsp:txXfrm>
        <a:off x="2186478" y="292162"/>
        <a:ext cx="297217" cy="295546"/>
      </dsp:txXfrm>
    </dsp:sp>
    <dsp:sp modelId="{B6F3C504-743D-4CC5-94AE-7EC84020FDDD}">
      <dsp:nvSpPr>
        <dsp:cNvPr id="0" name=""/>
        <dsp:cNvSpPr/>
      </dsp:nvSpPr>
      <dsp:spPr>
        <a:xfrm>
          <a:off x="2787321" y="0"/>
          <a:ext cx="1986197" cy="879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Transformieren</a:t>
          </a:r>
        </a:p>
      </dsp:txBody>
      <dsp:txXfrm>
        <a:off x="2813092" y="25771"/>
        <a:ext cx="1934655" cy="828330"/>
      </dsp:txXfrm>
    </dsp:sp>
    <dsp:sp modelId="{8A25A2A6-0117-40CD-963D-68A4BE126D98}">
      <dsp:nvSpPr>
        <dsp:cNvPr id="0" name=""/>
        <dsp:cNvSpPr/>
      </dsp:nvSpPr>
      <dsp:spPr>
        <a:xfrm>
          <a:off x="4972138" y="193647"/>
          <a:ext cx="421073" cy="4925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/>
        </a:p>
      </dsp:txBody>
      <dsp:txXfrm>
        <a:off x="4972138" y="292162"/>
        <a:ext cx="294751" cy="295546"/>
      </dsp:txXfrm>
    </dsp:sp>
    <dsp:sp modelId="{6199B112-1EB2-447D-A5AF-00ED84F30BEA}">
      <dsp:nvSpPr>
        <dsp:cNvPr id="0" name=""/>
        <dsp:cNvSpPr/>
      </dsp:nvSpPr>
      <dsp:spPr>
        <a:xfrm>
          <a:off x="5567997" y="0"/>
          <a:ext cx="1986197" cy="8798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Laden</a:t>
          </a:r>
        </a:p>
      </dsp:txBody>
      <dsp:txXfrm>
        <a:off x="5593768" y="25771"/>
        <a:ext cx="1934655" cy="828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0.75676</cdr:x>
      <cdr:y>0.01528</cdr:y>
    </cdr:from>
    <cdr:to>
      <cdr:x>0.84256</cdr:x>
      <cdr:y>0.21065</cdr:y>
    </cdr:to>
    <cdr:sp macro="" textlink="">
      <cdr:nvSpPr>
        <cdr:cNvPr id="2" name="Textfeld 1"/>
        <cdr:cNvSpPr txBox="1"/>
      </cdr:nvSpPr>
      <cdr:spPr>
        <a:xfrm xmlns:a="http://schemas.openxmlformats.org/drawingml/2006/main">
          <a:off x="8064896" y="71537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de-DE" sz="3200" dirty="0"/>
            <a:t>Doku</a:t>
          </a:r>
          <a:endParaRPr lang="de-DE" sz="1800" dirty="0"/>
        </a:p>
      </cdr:txBody>
    </cdr:sp>
  </cdr:relSizeAnchor>
  <cdr:relSizeAnchor xmlns:cdr="http://schemas.openxmlformats.org/drawingml/2006/chartDrawing">
    <cdr:from>
      <cdr:x>0.7973</cdr:x>
      <cdr:y>0.14256</cdr:y>
    </cdr:from>
    <cdr:to>
      <cdr:x>0.7973</cdr:x>
      <cdr:y>0.18462</cdr:y>
    </cdr:to>
    <cdr:cxnSp macro="">
      <cdr:nvCxnSpPr>
        <cdr:cNvPr id="3" name="Gerade Verbindung 2">
          <a:extLst xmlns:a="http://schemas.openxmlformats.org/drawingml/2006/main">
            <a:ext uri="{FF2B5EF4-FFF2-40B4-BE49-F238E27FC236}">
              <a16:creationId xmlns:a16="http://schemas.microsoft.com/office/drawing/2014/main" id="{937477E8-13C6-BC33-8E4A-363893CDBB49}"/>
            </a:ext>
          </a:extLst>
        </cdr:cNvPr>
        <cdr:cNvCxnSpPr/>
      </cdr:nvCxnSpPr>
      <cdr:spPr>
        <a:xfrm xmlns:a="http://schemas.openxmlformats.org/drawingml/2006/main">
          <a:off x="8496944" y="667236"/>
          <a:ext cx="0" cy="196860"/>
        </a:xfrm>
        <a:prstGeom xmlns:a="http://schemas.openxmlformats.org/drawingml/2006/main" prst="line">
          <a:avLst/>
        </a:prstGeom>
        <a:ln xmlns:a="http://schemas.openxmlformats.org/drawingml/2006/main" w="28575">
          <a:solidFill>
            <a:schemeClr val="tx1"/>
          </a:solidFill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0.03378</cdr:x>
      <cdr:y>0.4</cdr:y>
    </cdr:from>
    <cdr:to>
      <cdr:x>0.11959</cdr:x>
      <cdr:y>0.59536</cdr:y>
    </cdr:to>
    <cdr:sp macro="" textlink="">
      <cdr:nvSpPr>
        <cdr:cNvPr id="6" name="Textfeld 5"/>
        <cdr:cNvSpPr txBox="1"/>
      </cdr:nvSpPr>
      <cdr:spPr>
        <a:xfrm xmlns:a="http://schemas.openxmlformats.org/drawingml/2006/main">
          <a:off x="360040" y="1872208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de-DE" sz="4000" dirty="0"/>
            <a:t>6</a:t>
          </a:r>
        </a:p>
      </cdr:txBody>
    </cdr:sp>
  </cdr:relSizeAnchor>
  <cdr:relSizeAnchor xmlns:cdr="http://schemas.openxmlformats.org/drawingml/2006/chartDrawing">
    <cdr:from>
      <cdr:x>0.40877</cdr:x>
      <cdr:y>0.4</cdr:y>
    </cdr:from>
    <cdr:to>
      <cdr:x>0.49458</cdr:x>
      <cdr:y>0.59536</cdr:y>
    </cdr:to>
    <cdr:sp macro="" textlink="">
      <cdr:nvSpPr>
        <cdr:cNvPr id="7" name="Textfeld 1"/>
        <cdr:cNvSpPr txBox="1"/>
      </cdr:nvSpPr>
      <cdr:spPr>
        <a:xfrm xmlns:a="http://schemas.openxmlformats.org/drawingml/2006/main">
          <a:off x="4356377" y="1872208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de-DE" sz="4000" dirty="0"/>
            <a:t>39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2E971-8195-44AF-BA11-4A860B61AFF1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3C239-2F1A-4464-A2C1-87940F38489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1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Begrüsung</a:t>
            </a:r>
            <a:r>
              <a:rPr lang="de-DE" dirty="0"/>
              <a:t>, Vorstellung, Einladen zur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6311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Abschlussarbeit</a:t>
            </a:r>
          </a:p>
          <a:p>
            <a:r>
              <a:rPr lang="de-DE" dirty="0"/>
              <a:t>ETL kurz beschreiben</a:t>
            </a:r>
          </a:p>
          <a:p>
            <a:r>
              <a:rPr lang="de-DE" dirty="0"/>
              <a:t>JSON ansprechen und erläutern</a:t>
            </a:r>
          </a:p>
          <a:p>
            <a:r>
              <a:rPr lang="de-DE" dirty="0"/>
              <a:t>JSON strukturiert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6848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Kurzüberblick des Präsentationsablaufs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720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aseline="0" dirty="0"/>
              <a:t>SPIE – der Mutterkonzern</a:t>
            </a:r>
          </a:p>
          <a:p>
            <a:r>
              <a:rPr lang="de-DE" baseline="0" dirty="0"/>
              <a:t>Spei </a:t>
            </a:r>
            <a:r>
              <a:rPr lang="de-DE" baseline="0" dirty="0" err="1"/>
              <a:t>Rodias</a:t>
            </a:r>
            <a:endParaRPr lang="de-DE" baseline="0" dirty="0"/>
          </a:p>
          <a:p>
            <a:r>
              <a:rPr lang="de-DE" baseline="0" dirty="0"/>
              <a:t>Seit rund dreißig Jahren</a:t>
            </a:r>
          </a:p>
          <a:p>
            <a:r>
              <a:rPr lang="de-DE" baseline="0" dirty="0"/>
              <a:t>	Produkte und Dienstleistung in der Instandhaltungsbranche</a:t>
            </a:r>
          </a:p>
          <a:p>
            <a:r>
              <a:rPr lang="de-DE" baseline="0" dirty="0"/>
              <a:t>	Enterprise </a:t>
            </a:r>
            <a:r>
              <a:rPr lang="de-DE" baseline="0" dirty="0" err="1"/>
              <a:t>segment</a:t>
            </a:r>
            <a:r>
              <a:rPr lang="de-DE" baseline="0" dirty="0"/>
              <a:t> – EAM erklären</a:t>
            </a:r>
          </a:p>
          <a:p>
            <a:r>
              <a:rPr lang="de-DE" baseline="0" dirty="0"/>
              <a:t>100 Mitarbeiter</a:t>
            </a:r>
          </a:p>
          <a:p>
            <a:r>
              <a:rPr lang="de-DE" baseline="0" dirty="0"/>
              <a:t>Mehre Standorte im deutschsprachigen Raum</a:t>
            </a:r>
          </a:p>
          <a:p>
            <a:endParaRPr lang="de-DE" baseline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7043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Branchenüberblick </a:t>
            </a:r>
          </a:p>
          <a:p>
            <a:r>
              <a:rPr lang="de-DE" dirty="0"/>
              <a:t>Softwaregestützte geplante </a:t>
            </a:r>
            <a:r>
              <a:rPr lang="de-DE" dirty="0" err="1"/>
              <a:t>Isntandhaltung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800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Opentalos</a:t>
            </a:r>
            <a:r>
              <a:rPr lang="de-DE" dirty="0"/>
              <a:t> Beschreiben</a:t>
            </a:r>
          </a:p>
          <a:p>
            <a:endParaRPr lang="de-DE" dirty="0"/>
          </a:p>
          <a:p>
            <a:r>
              <a:rPr lang="de-DE" dirty="0"/>
              <a:t>-Client-Server Applikation mit model-, Applikation- und Monitoring dienst</a:t>
            </a:r>
          </a:p>
          <a:p>
            <a:pPr marL="171450" indent="-171450">
              <a:buFontTx/>
              <a:buChar char="-"/>
            </a:pPr>
            <a:r>
              <a:rPr lang="de-DE" dirty="0"/>
              <a:t>Framework und </a:t>
            </a:r>
            <a:r>
              <a:rPr lang="de-DE" dirty="0" err="1"/>
              <a:t>Platform</a:t>
            </a:r>
            <a:r>
              <a:rPr lang="de-DE" dirty="0"/>
              <a:t> zur geplanten Instandhaltung</a:t>
            </a:r>
          </a:p>
          <a:p>
            <a:pPr marL="0" indent="0">
              <a:buFontTx/>
              <a:buNone/>
            </a:pPr>
            <a:r>
              <a:rPr lang="de-DE" dirty="0"/>
              <a:t>- Zugriff auf Wartungsdatenbank verboten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[TODO]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782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/>
              <a:t>Geschäftsprozesse und Versionierung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036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00:55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23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15B0-4A03-0442-7AFE-34DDEF28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5577D4E-90B7-2226-6519-95C18F5F8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E8ACED-C2CB-2CB5-7F78-57641CAF9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/>
              <a:t>Geschäftsprozesse und Versionierung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A49F82-FAD8-FC09-99C3-9AB747A2E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114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214D-7403-510D-1571-45BE75C3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1108F7-988F-F127-D7FA-E45A45BB4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6812C9A-8AFD-79B0-5876-823315682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/>
              <a:t>Geschäftsprozesse und Versionierung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D58A08-FB6C-E9F4-6D41-FFAE4D28D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645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298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Entwicklungskosten -&gt; Ich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6420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518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3601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3D00-D477-D751-C9B6-47C53EE2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7052F66-BE61-522C-6B36-0582300FB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BDA0FD-2D58-2A17-D5C6-C1A7FD464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Lastenheft erstellen</a:t>
            </a:r>
          </a:p>
          <a:p>
            <a:r>
              <a:rPr lang="de-DE" dirty="0"/>
              <a:t>02:10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0A875B-3F83-8BE0-CEF4-F2ACEE6E1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707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Lastenheft erstellen</a:t>
            </a:r>
          </a:p>
          <a:p>
            <a:r>
              <a:rPr lang="de-DE" dirty="0"/>
              <a:t>02:10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648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6927-F199-E615-5586-98D09BA0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9CBE05C-4125-0769-AE3C-4AFEB97C1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EFFD6D8-5772-A616-C649-4D8DD6F56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Lastenheft erstellen</a:t>
            </a:r>
          </a:p>
          <a:p>
            <a:r>
              <a:rPr lang="de-DE" dirty="0"/>
              <a:t>02:10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2AA88F-771A-21BA-C689-A9F30A79A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405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140</a:t>
            </a:r>
            <a:r>
              <a:rPr lang="de-DE" baseline="0" dirty="0"/>
              <a:t> bestehende Regeln extrahiert, abstrahiert und Grammatik erstellt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309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556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Braucht man nicht sehen</a:t>
            </a:r>
          </a:p>
          <a:p>
            <a:r>
              <a:rPr lang="de-DE" dirty="0"/>
              <a:t>CI</a:t>
            </a:r>
          </a:p>
          <a:p>
            <a:r>
              <a:rPr lang="de-DE" dirty="0" err="1"/>
              <a:t>Swimlanes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60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381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Frameworks nennen!</a:t>
            </a:r>
          </a:p>
          <a:p>
            <a:r>
              <a:rPr lang="de-DE" dirty="0"/>
              <a:t>09:05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954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Xtext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352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Oberste Element</a:t>
            </a:r>
          </a:p>
          <a:p>
            <a:r>
              <a:rPr lang="de-DE" dirty="0"/>
              <a:t>Hochkomma</a:t>
            </a:r>
            <a:r>
              <a:rPr lang="de-DE" baseline="0" dirty="0"/>
              <a:t> Schlüsselwörter</a:t>
            </a:r>
          </a:p>
          <a:p>
            <a:r>
              <a:rPr lang="de-DE" baseline="0" dirty="0"/>
              <a:t>Zuweisungen = Attribute wohinter </a:t>
            </a:r>
            <a:r>
              <a:rPr lang="de-DE" baseline="0"/>
              <a:t>andere Elemente hängen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1602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Hab ich gemacht</a:t>
            </a:r>
          </a:p>
          <a:p>
            <a:r>
              <a:rPr lang="de-DE" dirty="0"/>
              <a:t>Fachbereich kann</a:t>
            </a:r>
            <a:r>
              <a:rPr lang="de-DE" baseline="0" dirty="0"/>
              <a:t> verstehen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76838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Pur DSL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602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Darstellung</a:t>
            </a:r>
            <a:r>
              <a:rPr lang="de-DE" baseline="0" dirty="0"/>
              <a:t> und Entwicklung der DSL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3136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aseline="0" dirty="0"/>
              <a:t>Codeformatierung</a:t>
            </a:r>
          </a:p>
          <a:p>
            <a:r>
              <a:rPr lang="de-DE" baseline="0" dirty="0"/>
              <a:t>Templates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03843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aseline="0" dirty="0"/>
              <a:t>Ich habe gemacht!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03843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Herz des Projektes</a:t>
            </a:r>
          </a:p>
          <a:p>
            <a:r>
              <a:rPr lang="de-DE" dirty="0"/>
              <a:t>DSL eingießen</a:t>
            </a:r>
          </a:p>
          <a:p>
            <a:r>
              <a:rPr lang="de-DE" dirty="0"/>
              <a:t>C#</a:t>
            </a:r>
            <a:r>
              <a:rPr lang="de-DE" baseline="0" dirty="0"/>
              <a:t> erhalten</a:t>
            </a:r>
          </a:p>
          <a:p>
            <a:r>
              <a:rPr lang="de-DE" baseline="0" dirty="0"/>
              <a:t>In </a:t>
            </a:r>
            <a:r>
              <a:rPr lang="de-DE" baseline="0" dirty="0" err="1"/>
              <a:t>Xtend</a:t>
            </a:r>
            <a:r>
              <a:rPr lang="de-DE" baseline="0" dirty="0"/>
              <a:t> programmiert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78984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5 Regeln =5</a:t>
            </a:r>
            <a:r>
              <a:rPr lang="de-DE" baseline="0" dirty="0"/>
              <a:t> Dateien</a:t>
            </a:r>
          </a:p>
          <a:p>
            <a:r>
              <a:rPr lang="de-DE" baseline="0" dirty="0"/>
              <a:t>Priorisierung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5810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!AUSSCHNITT!</a:t>
            </a:r>
          </a:p>
          <a:p>
            <a:r>
              <a:rPr lang="de-DE" dirty="0"/>
              <a:t>CRUD</a:t>
            </a:r>
          </a:p>
          <a:p>
            <a:r>
              <a:rPr lang="de-DE" dirty="0" err="1"/>
              <a:t>Versionieren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3156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Generierte </a:t>
            </a:r>
            <a:r>
              <a:rPr lang="de-DE" dirty="0" err="1"/>
              <a:t>Unittests</a:t>
            </a:r>
            <a:r>
              <a:rPr lang="de-DE" dirty="0"/>
              <a:t>, Doku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3719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!TDD!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2219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2425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8A0D-161A-3C0E-37AC-F2C59C30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7F4F13E-B88C-1EBE-027C-92F0710E2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504144C-B716-F183-664A-21BDF8180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!AUSSCHNITT!</a:t>
            </a:r>
          </a:p>
          <a:p>
            <a:r>
              <a:rPr lang="de-DE" dirty="0"/>
              <a:t>CRUD</a:t>
            </a:r>
          </a:p>
          <a:p>
            <a:r>
              <a:rPr lang="de-DE" dirty="0" err="1"/>
              <a:t>Versionieren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98AE35-EE7E-5EEF-52BE-FE9E853EC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7760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Ziel erreicht?</a:t>
            </a:r>
          </a:p>
          <a:p>
            <a:r>
              <a:rPr lang="de-DE" dirty="0"/>
              <a:t>Produktion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13262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C239-2F1A-4464-A2C1-87940F38489B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6848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997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511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252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36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6708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67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141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062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87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033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785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E2CAF-CADF-430E-A81E-9EE5CA3E0024}" type="datetimeFigureOut">
              <a:rPr lang="de-DE" smtClean="0"/>
              <a:t>06.01.2026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8DD03-6D40-406B-BF87-6B1A48DB6411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033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5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F26314C-4D90-9D14-0393-C3BF1C59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Präsentation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IHK-</a:t>
            </a:r>
            <a:r>
              <a:rPr lang="en-US" dirty="0" err="1"/>
              <a:t>Winterprüfung</a:t>
            </a:r>
            <a:r>
              <a:rPr lang="en-US" dirty="0"/>
              <a:t> 2025/2026</a:t>
            </a:r>
          </a:p>
        </p:txBody>
      </p:sp>
      <p:pic>
        <p:nvPicPr>
          <p:cNvPr id="4" name="Grafik 3" descr="Ein Bild, das Menschliches Gesicht, Person, Mann, Kleidung enthält.&#10;&#10;KI-generierte Inhalte können fehlerhaft sein.">
            <a:extLst>
              <a:ext uri="{FF2B5EF4-FFF2-40B4-BE49-F238E27FC236}">
                <a16:creationId xmlns:a16="http://schemas.microsoft.com/office/drawing/2014/main" id="{28B35285-5427-ECAB-F838-25498145DB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5667"/>
          <a:stretch>
            <a:fillRect/>
          </a:stretch>
        </p:blipFill>
        <p:spPr>
          <a:xfrm>
            <a:off x="457200" y="1600200"/>
            <a:ext cx="4038600" cy="4525963"/>
          </a:xfrm>
          <a:prstGeom prst="rect">
            <a:avLst/>
          </a:prstGeom>
          <a:noFill/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8DD39BB-7692-3504-D857-F611774D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72272" cy="4525963"/>
          </a:xfrm>
        </p:spPr>
        <p:txBody>
          <a:bodyPr/>
          <a:lstStyle/>
          <a:p>
            <a:r>
              <a:rPr lang="de-DE" dirty="0"/>
              <a:t>Sven Kanter</a:t>
            </a:r>
          </a:p>
          <a:p>
            <a:r>
              <a:rPr lang="de-DE" dirty="0"/>
              <a:t>Anwendungsentwicklung</a:t>
            </a:r>
          </a:p>
          <a:p>
            <a:r>
              <a:rPr lang="de-DE" dirty="0"/>
              <a:t>Umschulungskontext</a:t>
            </a:r>
          </a:p>
          <a:p>
            <a:r>
              <a:rPr lang="de-DE" dirty="0"/>
              <a:t>6-monatiges Praktikum</a:t>
            </a:r>
          </a:p>
        </p:txBody>
      </p:sp>
    </p:spTree>
    <p:extLst>
      <p:ext uri="{BB962C8B-B14F-4D97-AF65-F5344CB8AC3E}">
        <p14:creationId xmlns:p14="http://schemas.microsoft.com/office/powerpoint/2010/main" val="364096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96934-40F5-581A-2FF3-C9421C64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Abschlussarbeit</a:t>
            </a:r>
            <a:br>
              <a:rPr lang="de-DE" dirty="0"/>
            </a:br>
            <a:r>
              <a:rPr lang="de-DE" dirty="0"/>
              <a:t>ETL-Programm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F0D438BC-9866-B005-E979-C50D9D6518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0934908"/>
              </p:ext>
            </p:extLst>
          </p:nvPr>
        </p:nvGraphicFramePr>
        <p:xfrm>
          <a:off x="971600" y="1844824"/>
          <a:ext cx="7560840" cy="879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AutoShape 2" descr="Json File SVG File">
            <a:extLst>
              <a:ext uri="{FF2B5EF4-FFF2-40B4-BE49-F238E27FC236}">
                <a16:creationId xmlns:a16="http://schemas.microsoft.com/office/drawing/2014/main" id="{D1F8293A-AA55-A61C-4BA1-5CFB721590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7625" y="2714625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211274A-9E4F-017F-CBCD-43AF789A53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9960" y="3169909"/>
            <a:ext cx="2060848" cy="206084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F70B554-61BB-670E-24D5-8F4B0951E0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35896" y="3151882"/>
            <a:ext cx="2060848" cy="206084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0080B4D-39B1-6B79-B4CC-96238F5F90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1921" y="3151882"/>
            <a:ext cx="2060848" cy="206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2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96F10-3309-A0BD-60AC-BD56B038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dieser Präsentation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7E12F8-F845-4317-2DDC-7441E2293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Projektumfeld</a:t>
            </a:r>
          </a:p>
          <a:p>
            <a:r>
              <a:rPr lang="de-DE" dirty="0"/>
              <a:t>Projektbeschreibung</a:t>
            </a:r>
          </a:p>
          <a:p>
            <a:r>
              <a:rPr lang="de-DE" dirty="0"/>
              <a:t>Durchführung</a:t>
            </a:r>
          </a:p>
          <a:p>
            <a:r>
              <a:rPr lang="de-DE" dirty="0"/>
              <a:t>Qualitätskontrolle</a:t>
            </a:r>
          </a:p>
          <a:p>
            <a:r>
              <a:rPr lang="de-DE" dirty="0"/>
              <a:t>Zukunftsausblick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0204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63E34-6EF5-70E7-7685-3050CA4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Projektumfeld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300112-5984-C38B-3725-AA5EB4CAD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015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55B258-0EBF-0CF7-D44D-D59F51086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Praktikumsbetrieb</a:t>
            </a:r>
            <a:br>
              <a:rPr lang="en-US" dirty="0"/>
            </a:br>
            <a:r>
              <a:rPr lang="en-US" dirty="0" err="1"/>
              <a:t>Standort</a:t>
            </a:r>
            <a:r>
              <a:rPr lang="en-US" dirty="0"/>
              <a:t> Weinheim</a:t>
            </a:r>
          </a:p>
        </p:txBody>
      </p:sp>
      <p:pic>
        <p:nvPicPr>
          <p:cNvPr id="4" name="Grafik 3" descr="Ein Bild, das Kleidung, Person, Lächeln, Text enthält.&#10;&#10;KI-generierte Inhalte können fehlerhaft sein.">
            <a:extLst>
              <a:ext uri="{FF2B5EF4-FFF2-40B4-BE49-F238E27FC236}">
                <a16:creationId xmlns:a16="http://schemas.microsoft.com/office/drawing/2014/main" id="{9419EE4C-178C-8933-0CA0-87755C49B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643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Schrift, Webseite enthält.&#10;&#10;KI-generierte Inhalte können fehlerhaft sein.">
            <a:extLst>
              <a:ext uri="{FF2B5EF4-FFF2-40B4-BE49-F238E27FC236}">
                <a16:creationId xmlns:a16="http://schemas.microsoft.com/office/drawing/2014/main" id="{8B461058-7FF9-FA55-BE0A-1811D5E58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944" y="68263"/>
            <a:ext cx="5982112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773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66241-CD4C-CCDA-5851-DE3FC08D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OpenTalos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579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CCD3C5-015F-AF43-D269-F7130B861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Geschäftsprozesse und Versionierung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5B6E0DA-75DE-CF21-4075-5EBB9630B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Gwf</a:t>
            </a:r>
            <a:r>
              <a:rPr lang="de-DE" dirty="0"/>
              <a:t>-Dateien</a:t>
            </a:r>
          </a:p>
        </p:txBody>
      </p:sp>
    </p:spTree>
    <p:extLst>
      <p:ext uri="{BB962C8B-B14F-4D97-AF65-F5344CB8AC3E}">
        <p14:creationId xmlns:p14="http://schemas.microsoft.com/office/powerpoint/2010/main" val="56741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386593B-3A8D-F2D3-869E-570A53EB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de-DE" dirty="0"/>
              <a:t>Projektbeschreibung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65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9895-DA38-D8A2-4BFC-280EEECB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65DE5-B6F5-D02E-3306-AE8273E2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Projektbegründung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8DE5F95-C9D9-D8F2-A5E0-C050A703C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Bisher nur händische Konvertierung durch abzeichnen der Ablaufpläne</a:t>
            </a:r>
          </a:p>
        </p:txBody>
      </p:sp>
    </p:spTree>
    <p:extLst>
      <p:ext uri="{BB962C8B-B14F-4D97-AF65-F5344CB8AC3E}">
        <p14:creationId xmlns:p14="http://schemas.microsoft.com/office/powerpoint/2010/main" val="3743499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41DF-CAC3-7008-51EF-BAEE0868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96EAF6-1067-DB6D-93B4-472D02D5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Projektziele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F3CBF4A-FBDD-7F0C-C56B-921615E11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Hauptziel „ auf Knopfdruck entsprechende BPMN XML Diagrammerstellung</a:t>
            </a:r>
          </a:p>
          <a:p>
            <a:r>
              <a:rPr lang="de-DE" dirty="0"/>
              <a:t>Qualitätsziele</a:t>
            </a:r>
          </a:p>
        </p:txBody>
      </p:sp>
    </p:spTree>
    <p:extLst>
      <p:ext uri="{BB962C8B-B14F-4D97-AF65-F5344CB8AC3E}">
        <p14:creationId xmlns:p14="http://schemas.microsoft.com/office/powerpoint/2010/main" val="1713938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 Verbindung 9"/>
          <p:cNvCxnSpPr>
            <a:stCxn id="3" idx="2"/>
          </p:cNvCxnSpPr>
          <p:nvPr/>
        </p:nvCxnSpPr>
        <p:spPr>
          <a:xfrm>
            <a:off x="1497189" y="1666192"/>
            <a:ext cx="0" cy="766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16"/>
          <p:cNvCxnSpPr>
            <a:stCxn id="6" idx="2"/>
          </p:cNvCxnSpPr>
          <p:nvPr/>
        </p:nvCxnSpPr>
        <p:spPr>
          <a:xfrm>
            <a:off x="7658421" y="1666192"/>
            <a:ext cx="0" cy="7414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Diagramm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758268"/>
              </p:ext>
            </p:extLst>
          </p:nvPr>
        </p:nvGraphicFramePr>
        <p:xfrm>
          <a:off x="-111471" y="1543552"/>
          <a:ext cx="10657184" cy="468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feld 1"/>
          <p:cNvSpPr txBox="1"/>
          <p:nvPr/>
        </p:nvSpPr>
        <p:spPr>
          <a:xfrm>
            <a:off x="2984873" y="1425958"/>
            <a:ext cx="3434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Implementierung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824633" y="1142972"/>
            <a:ext cx="1345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Entwurf</a:t>
            </a:r>
            <a:endParaRPr lang="de-DE" dirty="0"/>
          </a:p>
        </p:txBody>
      </p:sp>
      <p:cxnSp>
        <p:nvCxnSpPr>
          <p:cNvPr id="13" name="Gerade Verbindung 12"/>
          <p:cNvCxnSpPr>
            <a:stCxn id="2" idx="2"/>
          </p:cNvCxnSpPr>
          <p:nvPr/>
        </p:nvCxnSpPr>
        <p:spPr>
          <a:xfrm>
            <a:off x="4702106" y="2072289"/>
            <a:ext cx="0" cy="3353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feld 3"/>
          <p:cNvSpPr txBox="1"/>
          <p:nvPr/>
        </p:nvSpPr>
        <p:spPr>
          <a:xfrm>
            <a:off x="-26143" y="1687568"/>
            <a:ext cx="1313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Analyse</a:t>
            </a:r>
            <a:endParaRPr lang="de-DE" sz="3600" dirty="0"/>
          </a:p>
        </p:txBody>
      </p:sp>
      <p:sp>
        <p:nvSpPr>
          <p:cNvPr id="6" name="Textfeld 5"/>
          <p:cNvSpPr txBox="1"/>
          <p:nvPr/>
        </p:nvSpPr>
        <p:spPr>
          <a:xfrm>
            <a:off x="6764843" y="1142972"/>
            <a:ext cx="1787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Einführung</a:t>
            </a:r>
            <a:endParaRPr lang="de-DE" sz="3600" dirty="0"/>
          </a:p>
        </p:txBody>
      </p:sp>
      <p:cxnSp>
        <p:nvCxnSpPr>
          <p:cNvPr id="7" name="Gerade Verbindung 6"/>
          <p:cNvCxnSpPr>
            <a:stCxn id="4" idx="2"/>
          </p:cNvCxnSpPr>
          <p:nvPr/>
        </p:nvCxnSpPr>
        <p:spPr>
          <a:xfrm>
            <a:off x="630383" y="2210788"/>
            <a:ext cx="0" cy="1968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feld 1"/>
          <p:cNvSpPr txBox="1"/>
          <p:nvPr/>
        </p:nvSpPr>
        <p:spPr>
          <a:xfrm>
            <a:off x="1188668" y="3415760"/>
            <a:ext cx="914400" cy="914400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de-DE" sz="4000" dirty="0"/>
              <a:t>11</a:t>
            </a:r>
          </a:p>
        </p:txBody>
      </p:sp>
      <p:sp>
        <p:nvSpPr>
          <p:cNvPr id="24" name="Textfeld 1"/>
          <p:cNvSpPr txBox="1"/>
          <p:nvPr/>
        </p:nvSpPr>
        <p:spPr>
          <a:xfrm>
            <a:off x="7132872" y="3415760"/>
            <a:ext cx="914400" cy="914400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000" dirty="0"/>
              <a:t>5</a:t>
            </a:r>
          </a:p>
        </p:txBody>
      </p:sp>
      <p:sp>
        <p:nvSpPr>
          <p:cNvPr id="25" name="Textfeld 1"/>
          <p:cNvSpPr txBox="1"/>
          <p:nvPr/>
        </p:nvSpPr>
        <p:spPr>
          <a:xfrm>
            <a:off x="8226649" y="3415760"/>
            <a:ext cx="914400" cy="914400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de-DE" sz="40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2897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19121"/>
              </p:ext>
            </p:extLst>
          </p:nvPr>
        </p:nvGraphicFramePr>
        <p:xfrm>
          <a:off x="251520" y="2636912"/>
          <a:ext cx="871296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929">
                <a:tc>
                  <a:txBody>
                    <a:bodyPr/>
                    <a:lstStyle/>
                    <a:p>
                      <a:r>
                        <a:rPr lang="de-DE" sz="3600" dirty="0"/>
                        <a:t>Vorgang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3600" dirty="0"/>
                        <a:t>Gesamtkosten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3600" dirty="0"/>
                        <a:t>Entwicklungskosten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3600" dirty="0"/>
                        <a:t>1750,00 €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3600" dirty="0"/>
                        <a:t>Fachgespräch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3600" dirty="0"/>
                        <a:t>315,00 €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3600" dirty="0"/>
                        <a:t>Code-Review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3600" dirty="0"/>
                        <a:t>160,00 €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3600" dirty="0"/>
                        <a:t>Abnahme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3600" dirty="0"/>
                        <a:t>80,00</a:t>
                      </a:r>
                      <a:r>
                        <a:rPr lang="de-DE" sz="3600" baseline="0" dirty="0"/>
                        <a:t> €</a:t>
                      </a:r>
                      <a:endParaRPr lang="de-DE" sz="3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3600" b="1" dirty="0"/>
                        <a:t>Summe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3600" b="1" dirty="0"/>
                        <a:t>2.305,00 €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893" y="0"/>
            <a:ext cx="2679108" cy="1772815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146501" y="538175"/>
            <a:ext cx="52725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solidFill>
                  <a:srgbClr val="1735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Projektkosten</a:t>
            </a:r>
          </a:p>
        </p:txBody>
      </p:sp>
    </p:spTree>
    <p:extLst>
      <p:ext uri="{BB962C8B-B14F-4D97-AF65-F5344CB8AC3E}">
        <p14:creationId xmlns:p14="http://schemas.microsoft.com/office/powerpoint/2010/main" val="2551961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709550"/>
              </p:ext>
            </p:extLst>
          </p:nvPr>
        </p:nvGraphicFramePr>
        <p:xfrm>
          <a:off x="251520" y="2636912"/>
          <a:ext cx="8712969" cy="4085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4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6929">
                <a:tc>
                  <a:txBody>
                    <a:bodyPr/>
                    <a:lstStyle/>
                    <a:p>
                      <a:r>
                        <a:rPr lang="de-DE" sz="2400" dirty="0"/>
                        <a:t>Vorgang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Anzahl</a:t>
                      </a:r>
                      <a:r>
                        <a:rPr lang="de-DE" sz="2400" baseline="0" dirty="0"/>
                        <a:t> Vorgänge </a:t>
                      </a:r>
                      <a:br>
                        <a:rPr lang="de-DE" sz="2400" baseline="0" dirty="0"/>
                      </a:br>
                      <a:r>
                        <a:rPr lang="de-DE" sz="2400" baseline="0" dirty="0"/>
                        <a:t>pro Quartal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Zeitersparnis</a:t>
                      </a:r>
                      <a:r>
                        <a:rPr lang="de-DE" sz="2400" baseline="0" dirty="0"/>
                        <a:t> </a:t>
                      </a:r>
                      <a:br>
                        <a:rPr lang="de-DE" sz="2400" baseline="0" dirty="0"/>
                      </a:br>
                      <a:r>
                        <a:rPr lang="de-DE" sz="2400" baseline="0" dirty="0"/>
                        <a:t>pro Quartal</a:t>
                      </a:r>
                      <a:endParaRPr lang="de-D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2400" dirty="0"/>
                        <a:t>Routing anpassen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280</a:t>
                      </a:r>
                      <a:r>
                        <a:rPr lang="de-DE" sz="2400" baseline="0" dirty="0"/>
                        <a:t> Minuten</a:t>
                      </a:r>
                      <a:endParaRPr lang="de-D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2400" dirty="0"/>
                        <a:t>Routing nachvollziehen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92 Minuten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r>
                        <a:rPr lang="de-DE" sz="2400" dirty="0"/>
                        <a:t>Auswertung erstellen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- 12 Minuten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497">
                <a:tc>
                  <a:txBody>
                    <a:bodyPr/>
                    <a:lstStyle/>
                    <a:p>
                      <a:endParaRPr lang="de-DE" sz="24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dirty="0"/>
                        <a:t>Zeiteinsparung pro</a:t>
                      </a:r>
                      <a:r>
                        <a:rPr lang="de-DE" sz="2400" b="1" baseline="0" dirty="0"/>
                        <a:t> Quartal</a:t>
                      </a:r>
                      <a:endParaRPr lang="de-DE" sz="2400" b="1" dirty="0"/>
                    </a:p>
                    <a:p>
                      <a:endParaRPr lang="de-DE" sz="24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1" dirty="0"/>
                        <a:t>360 Minuten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893" y="0"/>
            <a:ext cx="2679108" cy="1772815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146501" y="538175"/>
            <a:ext cx="53126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solidFill>
                  <a:srgbClr val="1735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Einsparungen</a:t>
            </a:r>
          </a:p>
        </p:txBody>
      </p:sp>
    </p:spTree>
    <p:extLst>
      <p:ext uri="{BB962C8B-B14F-4D97-AF65-F5344CB8AC3E}">
        <p14:creationId xmlns:p14="http://schemas.microsoft.com/office/powerpoint/2010/main" val="2055352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893" y="0"/>
            <a:ext cx="2679108" cy="1772815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146501" y="538175"/>
            <a:ext cx="49295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solidFill>
                  <a:srgbClr val="1735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Amortisation</a:t>
            </a:r>
          </a:p>
        </p:txBody>
      </p:sp>
      <p:graphicFrame>
        <p:nvGraphicFramePr>
          <p:cNvPr id="6" name="Diagramm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639132"/>
              </p:ext>
            </p:extLst>
          </p:nvPr>
        </p:nvGraphicFramePr>
        <p:xfrm>
          <a:off x="146501" y="794769"/>
          <a:ext cx="9074966" cy="6093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78499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CBA9-065C-6C0A-341D-6EEB50F0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EF95977-8603-6327-3D2D-A291D04D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Durchführung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CC5121F-A900-F09A-666C-53552BD49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Dokument getriebenes Wasserfallprojekt</a:t>
            </a:r>
          </a:p>
          <a:p>
            <a:pPr lvl="1"/>
            <a:r>
              <a:rPr lang="de-DE" dirty="0"/>
              <a:t>Phase: 1</a:t>
            </a:r>
          </a:p>
          <a:p>
            <a:pPr lvl="1"/>
            <a:r>
              <a:rPr lang="de-DE" dirty="0"/>
              <a:t>Phase: 2</a:t>
            </a:r>
          </a:p>
        </p:txBody>
      </p:sp>
    </p:spTree>
    <p:extLst>
      <p:ext uri="{BB962C8B-B14F-4D97-AF65-F5344CB8AC3E}">
        <p14:creationId xmlns:p14="http://schemas.microsoft.com/office/powerpoint/2010/main" val="4210393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9B290A-ECD1-C7AD-9143-D9293396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 1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911751D-8DEC-1ED1-55D6-A0166573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950206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91628-E3FE-DAFC-B346-C22C39A4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B148647-1025-EA76-2B80-4BB1E1C35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990E898-192E-0E2A-B0ED-B252154C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Dokument getriebenes Wasserfallprojekt</a:t>
            </a:r>
          </a:p>
          <a:p>
            <a:pPr lvl="1"/>
            <a:r>
              <a:rPr lang="de-DE" dirty="0"/>
              <a:t>Phase: 1</a:t>
            </a:r>
          </a:p>
          <a:p>
            <a:pPr lvl="1"/>
            <a:r>
              <a:rPr lang="de-DE" dirty="0"/>
              <a:t>Phase: 2</a:t>
            </a:r>
          </a:p>
        </p:txBody>
      </p:sp>
    </p:spTree>
    <p:extLst>
      <p:ext uri="{BB962C8B-B14F-4D97-AF65-F5344CB8AC3E}">
        <p14:creationId xmlns:p14="http://schemas.microsoft.com/office/powerpoint/2010/main" val="3925169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363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51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31000" y="0"/>
            <a:ext cx="6221831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0000CC"/>
                </a:solidFill>
              </a:rPr>
              <a:t>Regelwerk</a:t>
            </a:r>
            <a:r>
              <a:rPr lang="de-DE" sz="2400" dirty="0"/>
              <a:t> _NAME_</a:t>
            </a:r>
          </a:p>
          <a:p>
            <a:r>
              <a:rPr lang="de-DE" sz="2400" dirty="0"/>
              <a:t>{</a:t>
            </a:r>
          </a:p>
          <a:p>
            <a:r>
              <a:rPr lang="de-DE" sz="2400" dirty="0"/>
              <a:t>    </a:t>
            </a:r>
            <a:r>
              <a:rPr lang="de-DE" sz="2400" dirty="0">
                <a:solidFill>
                  <a:srgbClr val="0000CC"/>
                </a:solidFill>
              </a:rPr>
              <a:t>Unternehmen</a:t>
            </a:r>
            <a:r>
              <a:rPr lang="de-DE" sz="2400" dirty="0"/>
              <a:t>: _UNTERNEHMEN_</a:t>
            </a:r>
          </a:p>
          <a:p>
            <a:r>
              <a:rPr lang="de-DE" sz="2400" dirty="0"/>
              <a:t>    </a:t>
            </a:r>
            <a:r>
              <a:rPr lang="de-DE" sz="2400" dirty="0">
                <a:solidFill>
                  <a:srgbClr val="0000CC"/>
                </a:solidFill>
              </a:rPr>
              <a:t>Stapelkategorie</a:t>
            </a:r>
            <a:r>
              <a:rPr lang="de-DE" sz="2400" dirty="0"/>
              <a:t>: _STAPELKATEGORIE_</a:t>
            </a:r>
          </a:p>
          <a:p>
            <a:r>
              <a:rPr lang="de-DE" sz="2400" dirty="0"/>
              <a:t>    </a:t>
            </a:r>
            <a:r>
              <a:rPr lang="de-DE" sz="2400" dirty="0">
                <a:solidFill>
                  <a:srgbClr val="0000CC"/>
                </a:solidFill>
              </a:rPr>
              <a:t>Clearing</a:t>
            </a:r>
            <a:r>
              <a:rPr lang="de-DE" sz="2400" dirty="0"/>
              <a:t>: _CLEARINGZUWEISUNG_</a:t>
            </a:r>
          </a:p>
          <a:p>
            <a:endParaRPr lang="de-DE" sz="2400" dirty="0"/>
          </a:p>
          <a:p>
            <a:r>
              <a:rPr lang="de-DE" sz="2400" dirty="0"/>
              <a:t>    </a:t>
            </a:r>
            <a:r>
              <a:rPr lang="de-DE" sz="2400" dirty="0">
                <a:solidFill>
                  <a:srgbClr val="0000CC"/>
                </a:solidFill>
              </a:rPr>
              <a:t>Klammer</a:t>
            </a:r>
            <a:r>
              <a:rPr lang="de-DE" sz="2400" dirty="0"/>
              <a:t> _KLAMMERNAME_</a:t>
            </a:r>
          </a:p>
          <a:p>
            <a:r>
              <a:rPr lang="de-DE" sz="2400" dirty="0"/>
              <a:t>    {</a:t>
            </a:r>
          </a:p>
          <a:p>
            <a:r>
              <a:rPr lang="de-DE" sz="2400" dirty="0"/>
              <a:t>          _BEDINGUNGEN_</a:t>
            </a:r>
          </a:p>
          <a:p>
            <a:endParaRPr lang="de-DE" sz="2400" dirty="0"/>
          </a:p>
          <a:p>
            <a:r>
              <a:rPr lang="de-DE" sz="2400" dirty="0"/>
              <a:t>          </a:t>
            </a:r>
            <a:r>
              <a:rPr lang="de-DE" sz="2400" dirty="0">
                <a:solidFill>
                  <a:srgbClr val="0000CC"/>
                </a:solidFill>
              </a:rPr>
              <a:t>Regel</a:t>
            </a:r>
            <a:r>
              <a:rPr lang="de-DE" sz="2400" dirty="0"/>
              <a:t> _BESCHREIBUNG_ </a:t>
            </a:r>
            <a:r>
              <a:rPr lang="de-DE" sz="2400" dirty="0">
                <a:solidFill>
                  <a:srgbClr val="0000CC"/>
                </a:solidFill>
              </a:rPr>
              <a:t>=&gt;</a:t>
            </a:r>
            <a:r>
              <a:rPr lang="de-DE" sz="2400" dirty="0"/>
              <a:t> _ZUWEISUNG_</a:t>
            </a:r>
          </a:p>
          <a:p>
            <a:r>
              <a:rPr lang="de-DE" sz="2400" dirty="0"/>
              <a:t>          {</a:t>
            </a:r>
          </a:p>
          <a:p>
            <a:r>
              <a:rPr lang="de-DE" sz="2400" dirty="0"/>
              <a:t>               _BEDINGUNGEN_</a:t>
            </a:r>
          </a:p>
          <a:p>
            <a:endParaRPr lang="de-DE" sz="2400" dirty="0"/>
          </a:p>
          <a:p>
            <a:r>
              <a:rPr lang="de-DE" sz="2400" dirty="0"/>
              <a:t>               _WERTÄNDERUNG_</a:t>
            </a:r>
          </a:p>
          <a:p>
            <a:r>
              <a:rPr lang="de-DE" sz="2400" dirty="0"/>
              <a:t>          }</a:t>
            </a:r>
          </a:p>
          <a:p>
            <a:r>
              <a:rPr lang="de-DE" sz="2400" dirty="0"/>
              <a:t>    }</a:t>
            </a:r>
          </a:p>
          <a:p>
            <a:r>
              <a:rPr lang="de-DE" sz="2400" dirty="0"/>
              <a:t>}</a:t>
            </a:r>
          </a:p>
        </p:txBody>
      </p:sp>
      <p:cxnSp>
        <p:nvCxnSpPr>
          <p:cNvPr id="6" name="Gerade Verbindung mit Pfeil 5"/>
          <p:cNvCxnSpPr/>
          <p:nvPr/>
        </p:nvCxnSpPr>
        <p:spPr>
          <a:xfrm flipH="1">
            <a:off x="2713249" y="281295"/>
            <a:ext cx="4018991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7443988" y="96629"/>
            <a:ext cx="110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Container</a:t>
            </a:r>
          </a:p>
        </p:txBody>
      </p:sp>
      <p:cxnSp>
        <p:nvCxnSpPr>
          <p:cNvPr id="8" name="Gerade Verbindung mit Pfeil 7"/>
          <p:cNvCxnSpPr/>
          <p:nvPr/>
        </p:nvCxnSpPr>
        <p:spPr>
          <a:xfrm flipH="1">
            <a:off x="6052598" y="3889835"/>
            <a:ext cx="67964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7648083" y="3705169"/>
            <a:ext cx="696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Regel</a:t>
            </a:r>
          </a:p>
        </p:txBody>
      </p:sp>
      <p:cxnSp>
        <p:nvCxnSpPr>
          <p:cNvPr id="10" name="Gerade Verbindung mit Pfeil 9"/>
          <p:cNvCxnSpPr/>
          <p:nvPr/>
        </p:nvCxnSpPr>
        <p:spPr>
          <a:xfrm flipH="1">
            <a:off x="4227462" y="2420888"/>
            <a:ext cx="250477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6854469" y="2097722"/>
            <a:ext cx="2283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Container für vererbte</a:t>
            </a:r>
            <a:br>
              <a:rPr lang="de-DE" dirty="0"/>
            </a:br>
            <a:r>
              <a:rPr lang="de-DE" dirty="0"/>
              <a:t>Bedingungen</a:t>
            </a:r>
          </a:p>
        </p:txBody>
      </p:sp>
    </p:spTree>
    <p:extLst>
      <p:ext uri="{BB962C8B-B14F-4D97-AF65-F5344CB8AC3E}">
        <p14:creationId xmlns:p14="http://schemas.microsoft.com/office/powerpoint/2010/main" val="263792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3728" y="11956"/>
            <a:ext cx="4959743" cy="70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75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52" t="3287" r="3475" b="1810"/>
          <a:stretch/>
        </p:blipFill>
        <p:spPr bwMode="auto">
          <a:xfrm>
            <a:off x="147507" y="3263957"/>
            <a:ext cx="8405057" cy="11668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hteck 2"/>
          <p:cNvSpPr/>
          <p:nvPr/>
        </p:nvSpPr>
        <p:spPr>
          <a:xfrm>
            <a:off x="-356544" y="-189978"/>
            <a:ext cx="10041111" cy="26018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-17884" y="541129"/>
            <a:ext cx="47580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solidFill>
                  <a:srgbClr val="1735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Schnittstelle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3096" y="-99392"/>
            <a:ext cx="5100904" cy="279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1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44509E-6 L 3.61111E-6 -0.27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0.2726 L 0.0007 -1.171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449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20888"/>
            <a:ext cx="9144000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0319191" cy="69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64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-22572" y="2204864"/>
            <a:ext cx="940552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300" dirty="0"/>
              <a:t>Regelwerk:</a:t>
            </a:r>
          </a:p>
          <a:p>
            <a:r>
              <a:rPr lang="de-DE" sz="3300" dirty="0"/>
              <a:t>    </a:t>
            </a:r>
            <a:r>
              <a:rPr lang="de-DE" sz="3300" dirty="0">
                <a:solidFill>
                  <a:srgbClr val="0000CC"/>
                </a:solidFill>
              </a:rPr>
              <a:t>'Regelwerk' </a:t>
            </a:r>
            <a:r>
              <a:rPr lang="de-DE" sz="3300" dirty="0" err="1"/>
              <a:t>name</a:t>
            </a:r>
            <a:r>
              <a:rPr lang="de-DE" sz="3300" dirty="0"/>
              <a:t>=ID</a:t>
            </a:r>
          </a:p>
          <a:p>
            <a:r>
              <a:rPr lang="de-DE" sz="3300" dirty="0"/>
              <a:t>    </a:t>
            </a:r>
            <a:r>
              <a:rPr lang="de-DE" sz="3300" dirty="0">
                <a:solidFill>
                  <a:srgbClr val="0000CC"/>
                </a:solidFill>
              </a:rPr>
              <a:t>'{'</a:t>
            </a:r>
          </a:p>
          <a:p>
            <a:r>
              <a:rPr lang="de-DE" sz="3300" dirty="0">
                <a:solidFill>
                  <a:srgbClr val="0000CC"/>
                </a:solidFill>
              </a:rPr>
              <a:t>    'Unternehmen:' </a:t>
            </a:r>
            <a:r>
              <a:rPr lang="de-DE" sz="3300" dirty="0"/>
              <a:t>unternehmen=Unternehmen</a:t>
            </a:r>
          </a:p>
          <a:p>
            <a:r>
              <a:rPr lang="de-DE" sz="3300" dirty="0">
                <a:solidFill>
                  <a:srgbClr val="0000CC"/>
                </a:solidFill>
              </a:rPr>
              <a:t>    'Stapelkategorie:' </a:t>
            </a:r>
            <a:r>
              <a:rPr lang="de-DE" sz="3300" dirty="0" err="1"/>
              <a:t>stapelkategorie</a:t>
            </a:r>
            <a:r>
              <a:rPr lang="de-DE" sz="3300" dirty="0"/>
              <a:t>=Stapelkategorie</a:t>
            </a:r>
          </a:p>
          <a:p>
            <a:r>
              <a:rPr lang="de-DE" sz="3300" dirty="0">
                <a:solidFill>
                  <a:srgbClr val="0000CC"/>
                </a:solidFill>
              </a:rPr>
              <a:t>    'Clearing:'</a:t>
            </a:r>
            <a:r>
              <a:rPr lang="de-DE" sz="3300" dirty="0"/>
              <a:t> </a:t>
            </a:r>
            <a:r>
              <a:rPr lang="de-DE" sz="3300" dirty="0" err="1"/>
              <a:t>clearingzuweisung</a:t>
            </a:r>
            <a:r>
              <a:rPr lang="de-DE" sz="3300" dirty="0"/>
              <a:t>=STRING</a:t>
            </a:r>
          </a:p>
          <a:p>
            <a:r>
              <a:rPr lang="de-DE" sz="3300" dirty="0"/>
              <a:t>    </a:t>
            </a:r>
            <a:r>
              <a:rPr lang="de-DE" sz="3300" dirty="0" err="1"/>
              <a:t>regelwerkElemente</a:t>
            </a:r>
            <a:r>
              <a:rPr lang="de-DE" sz="3300" dirty="0"/>
              <a:t>+=</a:t>
            </a:r>
            <a:r>
              <a:rPr lang="de-DE" sz="3300" dirty="0" err="1"/>
              <a:t>RegelwerkElement</a:t>
            </a:r>
            <a:r>
              <a:rPr lang="de-DE" sz="3300" dirty="0"/>
              <a:t>*</a:t>
            </a:r>
          </a:p>
          <a:p>
            <a:r>
              <a:rPr lang="de-DE" sz="3300" dirty="0">
                <a:solidFill>
                  <a:srgbClr val="0000CC"/>
                </a:solidFill>
              </a:rPr>
              <a:t>    '}'</a:t>
            </a:r>
            <a:r>
              <a:rPr lang="de-DE" sz="3300" dirty="0"/>
              <a:t>;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48" y="332656"/>
            <a:ext cx="4139952" cy="12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45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7793" y="0"/>
            <a:ext cx="9388743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0000CC"/>
                </a:solidFill>
              </a:rPr>
              <a:t>if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/>
              <a:t>(</a:t>
            </a:r>
            <a:r>
              <a:rPr lang="de-DE" sz="2000" dirty="0" err="1"/>
              <a:t>beschlagwortung.DokumentenKlasse.Equals</a:t>
            </a:r>
            <a:r>
              <a:rPr lang="de-DE" sz="2000" dirty="0"/>
              <a:t>(</a:t>
            </a:r>
            <a:r>
              <a:rPr lang="de-DE" sz="2000" dirty="0">
                <a:solidFill>
                  <a:schemeClr val="accent2"/>
                </a:solidFill>
              </a:rPr>
              <a:t>"ABRECH"</a:t>
            </a:r>
            <a:r>
              <a:rPr lang="de-DE" sz="2000" dirty="0"/>
              <a:t>) &amp;&amp;</a:t>
            </a:r>
          </a:p>
          <a:p>
            <a:r>
              <a:rPr lang="de-DE" sz="2000" dirty="0"/>
              <a:t>    </a:t>
            </a:r>
            <a:r>
              <a:rPr lang="de-DE" sz="2000" dirty="0" err="1"/>
              <a:t>beschlagwortung.DokumentnTyp.Equals</a:t>
            </a:r>
            <a:r>
              <a:rPr lang="de-DE" sz="2000" dirty="0"/>
              <a:t>(</a:t>
            </a:r>
            <a:r>
              <a:rPr lang="de-DE" sz="2000" dirty="0">
                <a:solidFill>
                  <a:schemeClr val="accent2"/>
                </a:solidFill>
              </a:rPr>
              <a:t>"RECHNUNG"</a:t>
            </a:r>
            <a:r>
              <a:rPr lang="de-DE" sz="2000" dirty="0"/>
              <a:t>)) {</a:t>
            </a:r>
          </a:p>
          <a:p>
            <a:r>
              <a:rPr lang="de-DE" sz="2000" dirty="0"/>
              <a:t>	</a:t>
            </a:r>
            <a:r>
              <a:rPr lang="de-DE" sz="2000" dirty="0" err="1">
                <a:solidFill>
                  <a:srgbClr val="0000CC"/>
                </a:solidFill>
              </a:rPr>
              <a:t>foreach</a:t>
            </a:r>
            <a:r>
              <a:rPr lang="de-DE" sz="2000" dirty="0">
                <a:solidFill>
                  <a:srgbClr val="0070C0"/>
                </a:solidFill>
              </a:rPr>
              <a:t> </a:t>
            </a:r>
            <a:r>
              <a:rPr lang="de-DE" sz="2000" dirty="0"/>
              <a:t>(</a:t>
            </a:r>
            <a:r>
              <a:rPr lang="de-DE" sz="2000" dirty="0" err="1">
                <a:solidFill>
                  <a:srgbClr val="0000CC"/>
                </a:solidFill>
              </a:rPr>
              <a:t>var</a:t>
            </a:r>
            <a:r>
              <a:rPr lang="de-DE" sz="2000" dirty="0"/>
              <a:t> gruppe </a:t>
            </a:r>
            <a:r>
              <a:rPr lang="de-DE" sz="2000" dirty="0">
                <a:solidFill>
                  <a:srgbClr val="0000CC"/>
                </a:solidFill>
              </a:rPr>
              <a:t>in </a:t>
            </a:r>
            <a:r>
              <a:rPr lang="de-DE" sz="2000" dirty="0" err="1">
                <a:solidFill>
                  <a:srgbClr val="0000CC"/>
                </a:solidFill>
              </a:rPr>
              <a:t>this</a:t>
            </a:r>
            <a:r>
              <a:rPr lang="de-DE" sz="2000" dirty="0" err="1"/>
              <a:t>.gruppen</a:t>
            </a:r>
            <a:r>
              <a:rPr lang="de-DE" sz="2000" dirty="0"/>
              <a:t>) {</a:t>
            </a:r>
          </a:p>
          <a:p>
            <a:r>
              <a:rPr lang="de-DE" sz="2000" dirty="0"/>
              <a:t>		</a:t>
            </a:r>
            <a:r>
              <a:rPr lang="de-DE" sz="2000" dirty="0" err="1">
                <a:solidFill>
                  <a:srgbClr val="0000CC"/>
                </a:solidFill>
              </a:rPr>
              <a:t>if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/>
              <a:t>(</a:t>
            </a:r>
            <a:r>
              <a:rPr lang="de-DE" sz="2000" dirty="0" err="1"/>
              <a:t>HatPamSperreBeiGruppe</a:t>
            </a:r>
            <a:r>
              <a:rPr lang="de-DE" sz="2000" dirty="0"/>
              <a:t>(</a:t>
            </a:r>
            <a:r>
              <a:rPr lang="de-DE" sz="2000" dirty="0" err="1"/>
              <a:t>vorgang.Status</a:t>
            </a:r>
            <a:r>
              <a:rPr lang="de-DE" sz="2000" dirty="0"/>
              <a:t>, gruppe)) {</a:t>
            </a:r>
          </a:p>
          <a:p>
            <a:r>
              <a:rPr lang="de-DE" sz="2000" dirty="0"/>
              <a:t>			</a:t>
            </a:r>
            <a:r>
              <a:rPr lang="de-DE" sz="2000" dirty="0" err="1"/>
              <a:t>zuweisung</a:t>
            </a:r>
            <a:r>
              <a:rPr lang="de-DE" sz="2000" dirty="0"/>
              <a:t> = </a:t>
            </a:r>
            <a:r>
              <a:rPr lang="de-DE" sz="2000" dirty="0" err="1">
                <a:solidFill>
                  <a:srgbClr val="0000CC"/>
                </a:solidFill>
              </a:rPr>
              <a:t>new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 err="1"/>
              <a:t>ZuweisungGruppe</a:t>
            </a:r>
            <a:r>
              <a:rPr lang="de-DE" sz="2000" dirty="0"/>
              <a:t>(</a:t>
            </a:r>
            <a:r>
              <a:rPr lang="de-DE" sz="2000" dirty="0">
                <a:solidFill>
                  <a:schemeClr val="accent2"/>
                </a:solidFill>
              </a:rPr>
              <a:t>"PAM-GP_{0}“+</a:t>
            </a:r>
            <a:r>
              <a:rPr lang="de-DE" sz="2000" dirty="0"/>
              <a:t>gruppe))</a:t>
            </a:r>
          </a:p>
          <a:p>
            <a:r>
              <a:rPr lang="de-DE" sz="2000" dirty="0"/>
              <a:t>			}</a:t>
            </a:r>
          </a:p>
          <a:p>
            <a:r>
              <a:rPr lang="de-DE" sz="2000" dirty="0"/>
              <a:t>	}</a:t>
            </a:r>
          </a:p>
          <a:p>
            <a:r>
              <a:rPr lang="de-DE" sz="2000" dirty="0"/>
              <a:t>}</a:t>
            </a:r>
          </a:p>
          <a:p>
            <a:r>
              <a:rPr lang="de-DE" sz="2000" dirty="0" err="1">
                <a:solidFill>
                  <a:srgbClr val="0000CC"/>
                </a:solidFill>
              </a:rPr>
              <a:t>if</a:t>
            </a:r>
            <a:r>
              <a:rPr lang="de-DE" sz="2000" dirty="0"/>
              <a:t> (</a:t>
            </a:r>
            <a:r>
              <a:rPr lang="de-DE" sz="2000" dirty="0" err="1"/>
              <a:t>vorgang.BasisKennzeichen.Equals</a:t>
            </a:r>
            <a:r>
              <a:rPr lang="de-DE" sz="2000" dirty="0"/>
              <a:t>(</a:t>
            </a:r>
            <a:r>
              <a:rPr lang="de-DE" sz="2000" dirty="0" err="1"/>
              <a:t>Versis.KENNZEICHEN_BASISTARIF</a:t>
            </a:r>
            <a:r>
              <a:rPr lang="de-DE" sz="2000" dirty="0"/>
              <a:t>)) {</a:t>
            </a:r>
          </a:p>
          <a:p>
            <a:r>
              <a:rPr lang="de-DE" sz="2000" dirty="0"/>
              <a:t>	</a:t>
            </a:r>
            <a:r>
              <a:rPr lang="de-DE" sz="2000" dirty="0" err="1"/>
              <a:t>zuweisung</a:t>
            </a:r>
            <a:r>
              <a:rPr lang="de-DE" sz="2000" dirty="0"/>
              <a:t> = </a:t>
            </a:r>
            <a:r>
              <a:rPr lang="de-DE" sz="2000" dirty="0" err="1">
                <a:solidFill>
                  <a:srgbClr val="0000CC"/>
                </a:solidFill>
              </a:rPr>
              <a:t>new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 err="1"/>
              <a:t>ZuweisungBenutzer</a:t>
            </a:r>
            <a:r>
              <a:rPr lang="de-DE" sz="2000" dirty="0"/>
              <a:t>(</a:t>
            </a:r>
            <a:r>
              <a:rPr lang="de-DE" sz="2000" dirty="0">
                <a:solidFill>
                  <a:schemeClr val="accent2"/>
                </a:solidFill>
              </a:rPr>
              <a:t>„MUSTERMANN"</a:t>
            </a:r>
            <a:r>
              <a:rPr lang="de-DE" sz="2000" dirty="0"/>
              <a:t>);</a:t>
            </a:r>
          </a:p>
          <a:p>
            <a:r>
              <a:rPr lang="de-DE" sz="2000" dirty="0"/>
              <a:t>}</a:t>
            </a:r>
          </a:p>
          <a:p>
            <a:r>
              <a:rPr lang="de-DE" sz="2000" dirty="0" err="1">
                <a:solidFill>
                  <a:srgbClr val="0000CC"/>
                </a:solidFill>
              </a:rPr>
              <a:t>if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/>
              <a:t>(</a:t>
            </a:r>
            <a:r>
              <a:rPr lang="de-DE" sz="2000" dirty="0" err="1"/>
              <a:t>vorgang.BasisKennzeichen.Equals</a:t>
            </a:r>
            <a:r>
              <a:rPr lang="de-DE" sz="2000" dirty="0"/>
              <a:t>(</a:t>
            </a:r>
            <a:r>
              <a:rPr lang="de-DE" sz="2000" dirty="0" err="1"/>
              <a:t>Versis.KENNZEICHEN_STANDARDTARIF</a:t>
            </a:r>
            <a:r>
              <a:rPr lang="de-DE" sz="2000" dirty="0"/>
              <a:t>)) {</a:t>
            </a:r>
          </a:p>
          <a:p>
            <a:r>
              <a:rPr lang="de-DE" sz="2000" dirty="0"/>
              <a:t>	</a:t>
            </a:r>
            <a:r>
              <a:rPr lang="de-DE" sz="2000" dirty="0" err="1">
                <a:solidFill>
                  <a:srgbClr val="0000CC"/>
                </a:solidFill>
              </a:rPr>
              <a:t>var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 err="1"/>
              <a:t>name</a:t>
            </a:r>
            <a:r>
              <a:rPr lang="de-DE" sz="2000" dirty="0"/>
              <a:t> = </a:t>
            </a:r>
            <a:r>
              <a:rPr lang="de-DE" sz="2000" dirty="0" err="1"/>
              <a:t>vorgang.Name</a:t>
            </a:r>
            <a:r>
              <a:rPr lang="de-DE" sz="2000" dirty="0"/>
              <a:t>;</a:t>
            </a:r>
          </a:p>
          <a:p>
            <a:r>
              <a:rPr lang="de-DE" sz="2000" dirty="0"/>
              <a:t>	</a:t>
            </a:r>
            <a:r>
              <a:rPr lang="de-DE" sz="2000" dirty="0" err="1">
                <a:solidFill>
                  <a:srgbClr val="0000CC"/>
                </a:solidFill>
              </a:rPr>
              <a:t>if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/>
              <a:t>(</a:t>
            </a:r>
            <a:r>
              <a:rPr lang="de-DE" sz="2000" dirty="0" err="1"/>
              <a:t>NameIstImBereich</a:t>
            </a:r>
            <a:r>
              <a:rPr lang="de-DE" sz="2000" dirty="0"/>
              <a:t>(</a:t>
            </a:r>
            <a:r>
              <a:rPr lang="de-DE" sz="2000" dirty="0" err="1"/>
              <a:t>name</a:t>
            </a:r>
            <a:r>
              <a:rPr lang="de-DE" sz="2000" dirty="0"/>
              <a:t>, </a:t>
            </a:r>
            <a:r>
              <a:rPr lang="de-DE" sz="2000" dirty="0">
                <a:solidFill>
                  <a:schemeClr val="accent2"/>
                </a:solidFill>
              </a:rPr>
              <a:t>'A'</a:t>
            </a:r>
            <a:r>
              <a:rPr lang="de-DE" sz="2000" dirty="0"/>
              <a:t>, </a:t>
            </a:r>
            <a:r>
              <a:rPr lang="de-DE" sz="2000" dirty="0">
                <a:solidFill>
                  <a:schemeClr val="accent2"/>
                </a:solidFill>
              </a:rPr>
              <a:t>'M'</a:t>
            </a:r>
            <a:r>
              <a:rPr lang="de-DE" sz="2000" dirty="0"/>
              <a:t>)) 	{</a:t>
            </a:r>
          </a:p>
          <a:p>
            <a:r>
              <a:rPr lang="de-DE" sz="2000" dirty="0"/>
              <a:t>		</a:t>
            </a:r>
            <a:r>
              <a:rPr lang="de-DE" sz="2000" dirty="0" err="1"/>
              <a:t>zuweisung</a:t>
            </a:r>
            <a:r>
              <a:rPr lang="de-DE" sz="2000" dirty="0"/>
              <a:t> = </a:t>
            </a:r>
            <a:r>
              <a:rPr lang="de-DE" sz="2000" dirty="0" err="1">
                <a:solidFill>
                  <a:srgbClr val="0000CC"/>
                </a:solidFill>
              </a:rPr>
              <a:t>new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 err="1"/>
              <a:t>ZuweisungBenutzer</a:t>
            </a:r>
            <a:r>
              <a:rPr lang="de-DE" sz="2000" dirty="0"/>
              <a:t>(</a:t>
            </a:r>
            <a:r>
              <a:rPr lang="de-DE" sz="2000" dirty="0">
                <a:solidFill>
                  <a:schemeClr val="accent2"/>
                </a:solidFill>
              </a:rPr>
              <a:t>„MUSTERFRAU"</a:t>
            </a:r>
            <a:r>
              <a:rPr lang="de-DE" sz="2000" dirty="0"/>
              <a:t>);</a:t>
            </a:r>
          </a:p>
          <a:p>
            <a:r>
              <a:rPr lang="de-DE" sz="2000" dirty="0"/>
              <a:t>	}</a:t>
            </a:r>
          </a:p>
          <a:p>
            <a:r>
              <a:rPr lang="de-DE" sz="2000" dirty="0"/>
              <a:t>	</a:t>
            </a:r>
            <a:r>
              <a:rPr lang="de-DE" sz="2000" dirty="0" err="1">
                <a:solidFill>
                  <a:srgbClr val="0000CC"/>
                </a:solidFill>
              </a:rPr>
              <a:t>if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/>
              <a:t>(</a:t>
            </a:r>
            <a:r>
              <a:rPr lang="de-DE" sz="2000" dirty="0" err="1"/>
              <a:t>Name.IstImBereich</a:t>
            </a:r>
            <a:r>
              <a:rPr lang="de-DE" sz="2000" dirty="0"/>
              <a:t>(</a:t>
            </a:r>
            <a:r>
              <a:rPr lang="de-DE" sz="2000" dirty="0" err="1"/>
              <a:t>name</a:t>
            </a:r>
            <a:r>
              <a:rPr lang="de-DE" sz="2000" dirty="0"/>
              <a:t>, </a:t>
            </a:r>
            <a:r>
              <a:rPr lang="de-DE" sz="2000" dirty="0">
                <a:solidFill>
                  <a:schemeClr val="accent2"/>
                </a:solidFill>
              </a:rPr>
              <a:t>'N'</a:t>
            </a:r>
            <a:r>
              <a:rPr lang="de-DE" sz="2000" dirty="0"/>
              <a:t>, </a:t>
            </a:r>
            <a:r>
              <a:rPr lang="de-DE" sz="2000" dirty="0">
                <a:solidFill>
                  <a:schemeClr val="accent2"/>
                </a:solidFill>
              </a:rPr>
              <a:t>'Z'</a:t>
            </a:r>
            <a:r>
              <a:rPr lang="de-DE" sz="2000" dirty="0"/>
              <a:t>)) 	{</a:t>
            </a:r>
          </a:p>
          <a:p>
            <a:r>
              <a:rPr lang="de-DE" sz="2000" dirty="0"/>
              <a:t>		</a:t>
            </a:r>
            <a:r>
              <a:rPr lang="de-DE" sz="2000" dirty="0" err="1"/>
              <a:t>zuweisung</a:t>
            </a:r>
            <a:r>
              <a:rPr lang="de-DE" sz="2000" dirty="0"/>
              <a:t> = </a:t>
            </a:r>
            <a:r>
              <a:rPr lang="de-DE" sz="2000" dirty="0" err="1">
                <a:solidFill>
                  <a:srgbClr val="0000CC"/>
                </a:solidFill>
              </a:rPr>
              <a:t>new</a:t>
            </a:r>
            <a:r>
              <a:rPr lang="de-DE" sz="2000" dirty="0">
                <a:solidFill>
                  <a:srgbClr val="0000CC"/>
                </a:solidFill>
              </a:rPr>
              <a:t> </a:t>
            </a:r>
            <a:r>
              <a:rPr lang="de-DE" sz="2000" dirty="0" err="1"/>
              <a:t>ZuweisungBenutzer</a:t>
            </a:r>
            <a:r>
              <a:rPr lang="de-DE" sz="2000" dirty="0"/>
              <a:t>(</a:t>
            </a:r>
            <a:r>
              <a:rPr lang="de-DE" sz="2000" dirty="0">
                <a:solidFill>
                  <a:schemeClr val="accent2"/>
                </a:solidFill>
              </a:rPr>
              <a:t>„MUSTERMANN"</a:t>
            </a:r>
            <a:r>
              <a:rPr lang="de-DE" sz="2000" dirty="0"/>
              <a:t>);</a:t>
            </a:r>
          </a:p>
          <a:p>
            <a:r>
              <a:rPr lang="de-DE" sz="2000" dirty="0"/>
              <a:t>	}</a:t>
            </a:r>
          </a:p>
          <a:p>
            <a:r>
              <a:rPr lang="de-DE" sz="2000" dirty="0"/>
              <a:t>}</a:t>
            </a:r>
          </a:p>
          <a:p>
            <a:r>
              <a:rPr lang="de-DE" sz="2000" dirty="0" err="1"/>
              <a:t>zuweisung</a:t>
            </a:r>
            <a:r>
              <a:rPr lang="de-DE" sz="2000" dirty="0"/>
              <a:t> = </a:t>
            </a:r>
            <a:r>
              <a:rPr lang="de-DE" sz="2000" dirty="0">
                <a:solidFill>
                  <a:srgbClr val="0000CC"/>
                </a:solidFill>
              </a:rPr>
              <a:t>null</a:t>
            </a:r>
            <a:r>
              <a:rPr lang="de-DE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50126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de"/>
          <p:cNvSpPr txBox="1"/>
          <p:nvPr/>
        </p:nvSpPr>
        <p:spPr>
          <a:xfrm>
            <a:off x="179512" y="81930"/>
            <a:ext cx="4506875" cy="6694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"Pam-Sperre Gruppe TA"</a:t>
            </a:r>
            <a:r>
              <a:rPr lang="de-DE" sz="1300" dirty="0"/>
              <a:t> =&gt; </a:t>
            </a:r>
            <a:r>
              <a:rPr lang="de-DE" sz="1300" dirty="0">
                <a:solidFill>
                  <a:srgbClr val="0000CC"/>
                </a:solidFill>
              </a:rPr>
              <a:t>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„Mustergruppe"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DokumentenKlasse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"ABRECH"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DokumentenTyp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"RECHNUNG"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HatPamSperreBeiGruppe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"TA"</a:t>
            </a:r>
          </a:p>
          <a:p>
            <a:r>
              <a:rPr lang="de-DE" sz="1300" dirty="0"/>
              <a:t>}</a:t>
            </a:r>
          </a:p>
          <a:p>
            <a:endParaRPr lang="de-DE" sz="1300" dirty="0"/>
          </a:p>
          <a:p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"Pam-Sperre Gruppe Pflege"</a:t>
            </a:r>
            <a:r>
              <a:rPr lang="de-DE" sz="1300" dirty="0"/>
              <a:t> =&gt; </a:t>
            </a:r>
            <a:r>
              <a:rPr lang="de-DE" sz="1300" dirty="0">
                <a:solidFill>
                  <a:srgbClr val="0000CC"/>
                </a:solidFill>
              </a:rPr>
              <a:t>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„Andere Gruppe"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DokumentenKlasse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"ABRECH"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DokumentenTyp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"RECHNUNG"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HatPamSperreBeiGruppe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"Pflege"</a:t>
            </a:r>
          </a:p>
          <a:p>
            <a:r>
              <a:rPr lang="de-DE" sz="1300" dirty="0"/>
              <a:t>}</a:t>
            </a:r>
          </a:p>
          <a:p>
            <a:endParaRPr lang="de-DE" sz="1300" dirty="0"/>
          </a:p>
          <a:p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"Kennzeichen Basistarif"</a:t>
            </a:r>
            <a:r>
              <a:rPr lang="de-DE" sz="1300" dirty="0"/>
              <a:t> =&gt; </a:t>
            </a:r>
            <a:r>
              <a:rPr lang="de-DE" sz="1300" dirty="0">
                <a:solidFill>
                  <a:srgbClr val="0000CC"/>
                </a:solidFill>
              </a:rPr>
              <a:t>Benutzer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„Mustermann"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BasisKennzeichen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"B"</a:t>
            </a:r>
          </a:p>
          <a:p>
            <a:r>
              <a:rPr lang="de-DE" sz="1300" dirty="0"/>
              <a:t>}</a:t>
            </a:r>
          </a:p>
          <a:p>
            <a:endParaRPr lang="de-DE" sz="1300" dirty="0"/>
          </a:p>
          <a:p>
            <a:r>
              <a:rPr lang="de-DE" sz="1300" dirty="0">
                <a:solidFill>
                  <a:srgbClr val="0000CC"/>
                </a:solidFill>
              </a:rPr>
              <a:t>Klammer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"Kennzeichen Standardtarif"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BasisKennzeichen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"S"</a:t>
            </a:r>
          </a:p>
          <a:p>
            <a:r>
              <a:rPr lang="de-DE" sz="1300" dirty="0"/>
              <a:t>    </a:t>
            </a:r>
          </a:p>
          <a:p>
            <a:r>
              <a:rPr lang="de-DE" sz="1300" dirty="0"/>
              <a:t>    </a:t>
            </a:r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"Name A bis M" </a:t>
            </a:r>
            <a:r>
              <a:rPr lang="de-DE" sz="1300" dirty="0"/>
              <a:t>=&gt; </a:t>
            </a:r>
            <a:r>
              <a:rPr lang="de-DE" sz="1300" dirty="0">
                <a:solidFill>
                  <a:srgbClr val="0000CC"/>
                </a:solidFill>
              </a:rPr>
              <a:t>Benutzer</a:t>
            </a:r>
            <a:r>
              <a:rPr lang="de-DE" sz="1300" dirty="0"/>
              <a:t> „Musterfrau"</a:t>
            </a:r>
          </a:p>
          <a:p>
            <a:r>
              <a:rPr lang="de-DE" sz="1300" dirty="0"/>
              <a:t>    {</a:t>
            </a:r>
          </a:p>
          <a:p>
            <a:r>
              <a:rPr lang="de-DE" sz="1300" dirty="0"/>
              <a:t>        Name zwischen </a:t>
            </a:r>
            <a:r>
              <a:rPr lang="de-DE" sz="1300" dirty="0">
                <a:solidFill>
                  <a:schemeClr val="accent2"/>
                </a:solidFill>
              </a:rPr>
              <a:t>"A"</a:t>
            </a:r>
            <a:r>
              <a:rPr lang="de-DE" sz="1300" dirty="0"/>
              <a:t> und </a:t>
            </a:r>
            <a:r>
              <a:rPr lang="de-DE" sz="1300" dirty="0">
                <a:solidFill>
                  <a:schemeClr val="accent2"/>
                </a:solidFill>
              </a:rPr>
              <a:t>"M"</a:t>
            </a:r>
          </a:p>
          <a:p>
            <a:r>
              <a:rPr lang="de-DE" sz="1300" dirty="0"/>
              <a:t>    }</a:t>
            </a:r>
          </a:p>
          <a:p>
            <a:r>
              <a:rPr lang="de-DE" sz="1300" dirty="0"/>
              <a:t>    </a:t>
            </a:r>
          </a:p>
          <a:p>
            <a:r>
              <a:rPr lang="de-DE" sz="1300" dirty="0"/>
              <a:t>    </a:t>
            </a:r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"Name N bis Z" </a:t>
            </a:r>
            <a:r>
              <a:rPr lang="de-DE" sz="1300" dirty="0"/>
              <a:t>=&gt; </a:t>
            </a:r>
            <a:r>
              <a:rPr lang="de-DE" sz="1300" dirty="0">
                <a:solidFill>
                  <a:srgbClr val="0000CC"/>
                </a:solidFill>
              </a:rPr>
              <a:t>Benutzer</a:t>
            </a:r>
            <a:r>
              <a:rPr lang="de-DE" sz="1300" dirty="0"/>
              <a:t> „Mustermann"</a:t>
            </a:r>
          </a:p>
          <a:p>
            <a:r>
              <a:rPr lang="de-DE" sz="1300" dirty="0"/>
              <a:t>    {</a:t>
            </a:r>
          </a:p>
          <a:p>
            <a:r>
              <a:rPr lang="de-DE" sz="1300" dirty="0"/>
              <a:t>        Name zwischen </a:t>
            </a:r>
            <a:r>
              <a:rPr lang="de-DE" sz="1300" dirty="0">
                <a:solidFill>
                  <a:schemeClr val="accent2"/>
                </a:solidFill>
              </a:rPr>
              <a:t>"N"</a:t>
            </a:r>
            <a:r>
              <a:rPr lang="de-DE" sz="1300" dirty="0"/>
              <a:t> und </a:t>
            </a:r>
            <a:r>
              <a:rPr lang="de-DE" sz="1300" dirty="0">
                <a:solidFill>
                  <a:schemeClr val="accent2"/>
                </a:solidFill>
              </a:rPr>
              <a:t>"Z"</a:t>
            </a:r>
          </a:p>
          <a:p>
            <a:r>
              <a:rPr lang="de-DE" sz="1300" dirty="0"/>
              <a:t>    }</a:t>
            </a:r>
          </a:p>
          <a:p>
            <a:r>
              <a:rPr lang="de-DE" sz="1300" dirty="0"/>
              <a:t>}</a:t>
            </a:r>
          </a:p>
        </p:txBody>
      </p:sp>
      <p:sp>
        <p:nvSpPr>
          <p:cNvPr id="5" name="Gezoomt" hidden="1"/>
          <p:cNvSpPr txBox="1"/>
          <p:nvPr/>
        </p:nvSpPr>
        <p:spPr>
          <a:xfrm>
            <a:off x="227221" y="0"/>
            <a:ext cx="8771889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>
                <a:solidFill>
                  <a:srgbClr val="0000CC"/>
                </a:solidFill>
              </a:rPr>
              <a:t>Klammer</a:t>
            </a:r>
            <a:r>
              <a:rPr lang="de-DE" sz="3200" dirty="0"/>
              <a:t> </a:t>
            </a:r>
            <a:r>
              <a:rPr lang="de-DE" sz="3200" dirty="0">
                <a:solidFill>
                  <a:schemeClr val="accent2"/>
                </a:solidFill>
              </a:rPr>
              <a:t>"Kennzeichen Standardtarif"</a:t>
            </a:r>
          </a:p>
          <a:p>
            <a:r>
              <a:rPr lang="de-DE" sz="3200" dirty="0"/>
              <a:t>{</a:t>
            </a:r>
          </a:p>
          <a:p>
            <a:r>
              <a:rPr lang="de-DE" sz="3200" dirty="0"/>
              <a:t>    </a:t>
            </a:r>
            <a:r>
              <a:rPr lang="de-DE" sz="3200" dirty="0" err="1"/>
              <a:t>BasisKennzeichen</a:t>
            </a:r>
            <a:r>
              <a:rPr lang="de-DE" sz="3200" dirty="0"/>
              <a:t> = </a:t>
            </a:r>
            <a:r>
              <a:rPr lang="de-DE" sz="3200" dirty="0">
                <a:solidFill>
                  <a:schemeClr val="accent2"/>
                </a:solidFill>
              </a:rPr>
              <a:t>"S"</a:t>
            </a:r>
          </a:p>
          <a:p>
            <a:r>
              <a:rPr lang="de-DE" sz="3200" dirty="0"/>
              <a:t>    </a:t>
            </a:r>
          </a:p>
          <a:p>
            <a:r>
              <a:rPr lang="de-DE" sz="3200" dirty="0"/>
              <a:t>    </a:t>
            </a:r>
            <a:r>
              <a:rPr lang="de-DE" sz="3200" dirty="0">
                <a:solidFill>
                  <a:srgbClr val="0000CC"/>
                </a:solidFill>
              </a:rPr>
              <a:t>Regel</a:t>
            </a:r>
            <a:r>
              <a:rPr lang="de-DE" sz="3200" dirty="0"/>
              <a:t> </a:t>
            </a:r>
            <a:r>
              <a:rPr lang="de-DE" sz="3200" dirty="0">
                <a:solidFill>
                  <a:schemeClr val="accent2"/>
                </a:solidFill>
              </a:rPr>
              <a:t>"Name A bis M" </a:t>
            </a:r>
            <a:r>
              <a:rPr lang="de-DE" sz="3200" dirty="0"/>
              <a:t>=&gt; </a:t>
            </a:r>
            <a:r>
              <a:rPr lang="de-DE" sz="3200" dirty="0">
                <a:solidFill>
                  <a:srgbClr val="0000CC"/>
                </a:solidFill>
              </a:rPr>
              <a:t>Benutzer</a:t>
            </a:r>
            <a:r>
              <a:rPr lang="de-DE" sz="3200" dirty="0"/>
              <a:t> „Musterfrau"</a:t>
            </a:r>
          </a:p>
          <a:p>
            <a:r>
              <a:rPr lang="de-DE" sz="3200" dirty="0"/>
              <a:t>    {</a:t>
            </a:r>
          </a:p>
          <a:p>
            <a:r>
              <a:rPr lang="de-DE" sz="3200" dirty="0"/>
              <a:t>        Name zwischen </a:t>
            </a:r>
            <a:r>
              <a:rPr lang="de-DE" sz="3200" dirty="0">
                <a:solidFill>
                  <a:schemeClr val="accent2"/>
                </a:solidFill>
              </a:rPr>
              <a:t>"A"</a:t>
            </a:r>
            <a:r>
              <a:rPr lang="de-DE" sz="3200" dirty="0"/>
              <a:t> und </a:t>
            </a:r>
            <a:r>
              <a:rPr lang="de-DE" sz="3200" dirty="0">
                <a:solidFill>
                  <a:schemeClr val="accent2"/>
                </a:solidFill>
              </a:rPr>
              <a:t>"M"</a:t>
            </a:r>
          </a:p>
          <a:p>
            <a:r>
              <a:rPr lang="de-DE" sz="3200" dirty="0"/>
              <a:t>    }</a:t>
            </a:r>
          </a:p>
          <a:p>
            <a:r>
              <a:rPr lang="de-DE" sz="3200" dirty="0"/>
              <a:t>    </a:t>
            </a:r>
          </a:p>
          <a:p>
            <a:r>
              <a:rPr lang="de-DE" sz="3200" dirty="0"/>
              <a:t>    </a:t>
            </a:r>
            <a:r>
              <a:rPr lang="de-DE" sz="3200" dirty="0">
                <a:solidFill>
                  <a:srgbClr val="0000CC"/>
                </a:solidFill>
              </a:rPr>
              <a:t>Regel</a:t>
            </a:r>
            <a:r>
              <a:rPr lang="de-DE" sz="3200" dirty="0"/>
              <a:t> </a:t>
            </a:r>
            <a:r>
              <a:rPr lang="de-DE" sz="3200" dirty="0">
                <a:solidFill>
                  <a:schemeClr val="accent2"/>
                </a:solidFill>
              </a:rPr>
              <a:t>"Name N bis Z" </a:t>
            </a:r>
            <a:r>
              <a:rPr lang="de-DE" sz="3200" dirty="0"/>
              <a:t>=&gt; </a:t>
            </a:r>
            <a:r>
              <a:rPr lang="de-DE" sz="3200" dirty="0">
                <a:solidFill>
                  <a:srgbClr val="0000CC"/>
                </a:solidFill>
              </a:rPr>
              <a:t>Benutzer</a:t>
            </a:r>
            <a:r>
              <a:rPr lang="de-DE" sz="3200" dirty="0"/>
              <a:t> „Mustermann"</a:t>
            </a:r>
          </a:p>
          <a:p>
            <a:r>
              <a:rPr lang="de-DE" sz="3200" dirty="0"/>
              <a:t>    {</a:t>
            </a:r>
          </a:p>
          <a:p>
            <a:r>
              <a:rPr lang="de-DE" sz="3200" dirty="0"/>
              <a:t>        Name zwischen </a:t>
            </a:r>
            <a:r>
              <a:rPr lang="de-DE" sz="3200" dirty="0">
                <a:solidFill>
                  <a:schemeClr val="accent2"/>
                </a:solidFill>
              </a:rPr>
              <a:t>"N"</a:t>
            </a:r>
            <a:r>
              <a:rPr lang="de-DE" sz="3200" dirty="0"/>
              <a:t> und </a:t>
            </a:r>
            <a:r>
              <a:rPr lang="de-DE" sz="3200" dirty="0">
                <a:solidFill>
                  <a:schemeClr val="accent2"/>
                </a:solidFill>
              </a:rPr>
              <a:t>"Z"</a:t>
            </a:r>
          </a:p>
          <a:p>
            <a:r>
              <a:rPr lang="de-DE" sz="3200" dirty="0"/>
              <a:t>    }</a:t>
            </a:r>
          </a:p>
          <a:p>
            <a:r>
              <a:rPr lang="de-DE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441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4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ezoomt"/>
          <p:cNvSpPr txBox="1"/>
          <p:nvPr/>
        </p:nvSpPr>
        <p:spPr>
          <a:xfrm>
            <a:off x="227221" y="0"/>
            <a:ext cx="8771889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>
                <a:solidFill>
                  <a:srgbClr val="0000CC"/>
                </a:solidFill>
              </a:rPr>
              <a:t>Klammer</a:t>
            </a:r>
            <a:r>
              <a:rPr lang="de-DE" sz="3200" dirty="0"/>
              <a:t> </a:t>
            </a:r>
            <a:r>
              <a:rPr lang="de-DE" sz="3200" dirty="0">
                <a:solidFill>
                  <a:schemeClr val="accent2"/>
                </a:solidFill>
              </a:rPr>
              <a:t>"Kennzeichen Standardtarif"</a:t>
            </a:r>
          </a:p>
          <a:p>
            <a:r>
              <a:rPr lang="de-DE" sz="3200" dirty="0"/>
              <a:t>{</a:t>
            </a:r>
          </a:p>
          <a:p>
            <a:r>
              <a:rPr lang="de-DE" sz="3200" dirty="0"/>
              <a:t>    </a:t>
            </a:r>
            <a:r>
              <a:rPr lang="de-DE" sz="3200" dirty="0" err="1"/>
              <a:t>BasisKennzeichen</a:t>
            </a:r>
            <a:r>
              <a:rPr lang="de-DE" sz="3200" dirty="0"/>
              <a:t> = </a:t>
            </a:r>
            <a:r>
              <a:rPr lang="de-DE" sz="3200" dirty="0">
                <a:solidFill>
                  <a:schemeClr val="accent2"/>
                </a:solidFill>
              </a:rPr>
              <a:t>"S"</a:t>
            </a:r>
          </a:p>
          <a:p>
            <a:r>
              <a:rPr lang="de-DE" sz="3200" dirty="0"/>
              <a:t>    </a:t>
            </a:r>
          </a:p>
          <a:p>
            <a:r>
              <a:rPr lang="de-DE" sz="3200" dirty="0"/>
              <a:t>    </a:t>
            </a:r>
            <a:r>
              <a:rPr lang="de-DE" sz="3200" dirty="0">
                <a:solidFill>
                  <a:srgbClr val="0000CC"/>
                </a:solidFill>
              </a:rPr>
              <a:t>Regel</a:t>
            </a:r>
            <a:r>
              <a:rPr lang="de-DE" sz="3200" dirty="0"/>
              <a:t> </a:t>
            </a:r>
            <a:r>
              <a:rPr lang="de-DE" sz="3200" dirty="0">
                <a:solidFill>
                  <a:schemeClr val="accent2"/>
                </a:solidFill>
              </a:rPr>
              <a:t>"Name A bis M" </a:t>
            </a:r>
            <a:r>
              <a:rPr lang="de-DE" sz="3200" dirty="0"/>
              <a:t>=&gt; </a:t>
            </a:r>
            <a:r>
              <a:rPr lang="de-DE" sz="3200" dirty="0">
                <a:solidFill>
                  <a:srgbClr val="0000CC"/>
                </a:solidFill>
              </a:rPr>
              <a:t>Benutzer</a:t>
            </a:r>
            <a:r>
              <a:rPr lang="de-DE" sz="3200" dirty="0"/>
              <a:t> „Musterfrau"</a:t>
            </a:r>
          </a:p>
          <a:p>
            <a:r>
              <a:rPr lang="de-DE" sz="3200" dirty="0"/>
              <a:t>    {</a:t>
            </a:r>
          </a:p>
          <a:p>
            <a:r>
              <a:rPr lang="de-DE" sz="3200" dirty="0"/>
              <a:t>        Name zwischen </a:t>
            </a:r>
            <a:r>
              <a:rPr lang="de-DE" sz="3200" dirty="0">
                <a:solidFill>
                  <a:schemeClr val="accent2"/>
                </a:solidFill>
              </a:rPr>
              <a:t>"A"</a:t>
            </a:r>
            <a:r>
              <a:rPr lang="de-DE" sz="3200" dirty="0"/>
              <a:t> und </a:t>
            </a:r>
            <a:r>
              <a:rPr lang="de-DE" sz="3200" dirty="0">
                <a:solidFill>
                  <a:schemeClr val="accent2"/>
                </a:solidFill>
              </a:rPr>
              <a:t>"M"</a:t>
            </a:r>
          </a:p>
          <a:p>
            <a:r>
              <a:rPr lang="de-DE" sz="3200" dirty="0"/>
              <a:t>    }</a:t>
            </a:r>
          </a:p>
          <a:p>
            <a:r>
              <a:rPr lang="de-DE" sz="3200" dirty="0"/>
              <a:t>    </a:t>
            </a:r>
          </a:p>
          <a:p>
            <a:r>
              <a:rPr lang="de-DE" sz="3200" dirty="0"/>
              <a:t>    </a:t>
            </a:r>
            <a:r>
              <a:rPr lang="de-DE" sz="3200" dirty="0">
                <a:solidFill>
                  <a:srgbClr val="0000CC"/>
                </a:solidFill>
              </a:rPr>
              <a:t>Regel</a:t>
            </a:r>
            <a:r>
              <a:rPr lang="de-DE" sz="3200" dirty="0"/>
              <a:t> </a:t>
            </a:r>
            <a:r>
              <a:rPr lang="de-DE" sz="3200" dirty="0">
                <a:solidFill>
                  <a:schemeClr val="accent2"/>
                </a:solidFill>
              </a:rPr>
              <a:t>"Name N bis Z" </a:t>
            </a:r>
            <a:r>
              <a:rPr lang="de-DE" sz="3200" dirty="0"/>
              <a:t>=&gt; </a:t>
            </a:r>
            <a:r>
              <a:rPr lang="de-DE" sz="3200" dirty="0">
                <a:solidFill>
                  <a:srgbClr val="0000CC"/>
                </a:solidFill>
              </a:rPr>
              <a:t>Benutzer</a:t>
            </a:r>
            <a:r>
              <a:rPr lang="de-DE" sz="3200" dirty="0"/>
              <a:t> „Mustermann"</a:t>
            </a:r>
          </a:p>
          <a:p>
            <a:r>
              <a:rPr lang="de-DE" sz="3200" dirty="0"/>
              <a:t>    {</a:t>
            </a:r>
          </a:p>
          <a:p>
            <a:r>
              <a:rPr lang="de-DE" sz="3200" dirty="0"/>
              <a:t>        Name zwischen </a:t>
            </a:r>
            <a:r>
              <a:rPr lang="de-DE" sz="3200" dirty="0">
                <a:solidFill>
                  <a:schemeClr val="accent2"/>
                </a:solidFill>
              </a:rPr>
              <a:t>"N"</a:t>
            </a:r>
            <a:r>
              <a:rPr lang="de-DE" sz="3200" dirty="0"/>
              <a:t> und </a:t>
            </a:r>
            <a:r>
              <a:rPr lang="de-DE" sz="3200" dirty="0">
                <a:solidFill>
                  <a:schemeClr val="accent2"/>
                </a:solidFill>
              </a:rPr>
              <a:t>"Z"</a:t>
            </a:r>
          </a:p>
          <a:p>
            <a:r>
              <a:rPr lang="de-DE" sz="3200" dirty="0"/>
              <a:t>    }</a:t>
            </a:r>
          </a:p>
          <a:p>
            <a:r>
              <a:rPr lang="de-DE" sz="3200" dirty="0"/>
              <a:t>}</a:t>
            </a:r>
          </a:p>
        </p:txBody>
      </p:sp>
      <p:sp>
        <p:nvSpPr>
          <p:cNvPr id="6" name="Rechteck 5"/>
          <p:cNvSpPr/>
          <p:nvPr/>
        </p:nvSpPr>
        <p:spPr>
          <a:xfrm>
            <a:off x="1043608" y="2996952"/>
            <a:ext cx="4824536" cy="432048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1043608" y="5430710"/>
            <a:ext cx="4824536" cy="432048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489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2998023" y="1024186"/>
            <a:ext cx="34146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4000" dirty="0">
                <a:solidFill>
                  <a:schemeClr val="bg1"/>
                </a:solidFill>
                <a:latin typeface="Arial Black" panose="020B0A04020102020204" pitchFamily="34" charset="0"/>
              </a:rPr>
              <a:t>Darstellung</a:t>
            </a:r>
            <a:endParaRPr lang="de-DE" sz="4000" dirty="0">
              <a:solidFill>
                <a:schemeClr val="bg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89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4624"/>
            <a:ext cx="6948000" cy="107999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451653"/>
            <a:ext cx="6947999" cy="107999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858682"/>
            <a:ext cx="6947999" cy="10800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265712"/>
            <a:ext cx="6947999" cy="108000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-2340768" y="5517232"/>
            <a:ext cx="11521280" cy="1340768"/>
          </a:xfrm>
          <a:prstGeom prst="rect">
            <a:avLst/>
          </a:prstGeom>
          <a:solidFill>
            <a:srgbClr val="C4C4C4">
              <a:alpha val="4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5400" dirty="0">
                <a:solidFill>
                  <a:srgbClr val="17356C"/>
                </a:solidFill>
                <a:latin typeface="Arial Black" panose="020B0A04020102020204" pitchFamily="34" charset="0"/>
              </a:rPr>
              <a:t>Darstellung</a:t>
            </a:r>
          </a:p>
        </p:txBody>
      </p:sp>
    </p:spTree>
    <p:extLst>
      <p:ext uri="{BB962C8B-B14F-4D97-AF65-F5344CB8AC3E}">
        <p14:creationId xmlns:p14="http://schemas.microsoft.com/office/powerpoint/2010/main" val="4042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4624"/>
            <a:ext cx="6948000" cy="107999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451653"/>
            <a:ext cx="6947999" cy="107999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858682"/>
            <a:ext cx="6947999" cy="10800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265712"/>
            <a:ext cx="6947999" cy="1080000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74" y="1766662"/>
            <a:ext cx="8681882" cy="58221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71" y="2480855"/>
            <a:ext cx="5947289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5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22222E-6 L -0.00017 -0.207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103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5648"/>
            <a:ext cx="6947999" cy="10800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4" y="1125307"/>
            <a:ext cx="6947999" cy="10800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389" y="2297783"/>
            <a:ext cx="8729221" cy="226243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36" y="2349638"/>
            <a:ext cx="8821382" cy="218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7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04664" y="-167861"/>
            <a:ext cx="10584001" cy="7053244"/>
          </a:xfrm>
          <a:prstGeom prst="rect">
            <a:avLst/>
          </a:prstGeom>
        </p:spPr>
      </p:pic>
      <p:sp>
        <p:nvSpPr>
          <p:cNvPr id="2" name="Textfeld 1"/>
          <p:cNvSpPr txBox="1"/>
          <p:nvPr/>
        </p:nvSpPr>
        <p:spPr>
          <a:xfrm>
            <a:off x="3005677" y="5749554"/>
            <a:ext cx="620875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Codegenerator</a:t>
            </a:r>
          </a:p>
        </p:txBody>
      </p:sp>
    </p:spTree>
    <p:extLst>
      <p:ext uri="{BB962C8B-B14F-4D97-AF65-F5344CB8AC3E}">
        <p14:creationId xmlns:p14="http://schemas.microsoft.com/office/powerpoint/2010/main" val="765872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2040" y="-17493"/>
            <a:ext cx="936039" cy="1007697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806789" y="301689"/>
            <a:ext cx="105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Regel1.cs</a:t>
            </a: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693" y="1484784"/>
            <a:ext cx="936039" cy="1007697"/>
          </a:xfrm>
          <a:prstGeom prst="rect">
            <a:avLst/>
          </a:prstGeom>
        </p:spPr>
      </p:pic>
      <p:sp>
        <p:nvSpPr>
          <p:cNvPr id="15" name="Textfeld 14"/>
          <p:cNvSpPr txBox="1"/>
          <p:nvPr/>
        </p:nvSpPr>
        <p:spPr>
          <a:xfrm>
            <a:off x="5817442" y="1803966"/>
            <a:ext cx="105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Regel2.cs</a:t>
            </a:r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409" y="2780928"/>
            <a:ext cx="936039" cy="1007697"/>
          </a:xfrm>
          <a:prstGeom prst="rect">
            <a:avLst/>
          </a:prstGeom>
        </p:spPr>
      </p:pic>
      <p:sp>
        <p:nvSpPr>
          <p:cNvPr id="17" name="Textfeld 16"/>
          <p:cNvSpPr txBox="1"/>
          <p:nvPr/>
        </p:nvSpPr>
        <p:spPr>
          <a:xfrm>
            <a:off x="5828158" y="3100110"/>
            <a:ext cx="105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Regel3.cs</a:t>
            </a:r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693" y="4509120"/>
            <a:ext cx="936039" cy="1007697"/>
          </a:xfrm>
          <a:prstGeom prst="rect">
            <a:avLst/>
          </a:prstGeom>
        </p:spPr>
      </p:pic>
      <p:sp>
        <p:nvSpPr>
          <p:cNvPr id="19" name="Textfeld 18"/>
          <p:cNvSpPr txBox="1"/>
          <p:nvPr/>
        </p:nvSpPr>
        <p:spPr>
          <a:xfrm>
            <a:off x="5817442" y="4828302"/>
            <a:ext cx="105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Regel4.cs</a:t>
            </a:r>
          </a:p>
        </p:txBody>
      </p:sp>
      <p:pic>
        <p:nvPicPr>
          <p:cNvPr id="20" name="Grafik 1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2693" y="5589240"/>
            <a:ext cx="936039" cy="1007697"/>
          </a:xfrm>
          <a:prstGeom prst="rect">
            <a:avLst/>
          </a:prstGeom>
        </p:spPr>
      </p:pic>
      <p:sp>
        <p:nvSpPr>
          <p:cNvPr id="21" name="Textfeld 20"/>
          <p:cNvSpPr txBox="1"/>
          <p:nvPr/>
        </p:nvSpPr>
        <p:spPr>
          <a:xfrm>
            <a:off x="5817442" y="5908422"/>
            <a:ext cx="105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Regel5.cs</a:t>
            </a:r>
          </a:p>
        </p:txBody>
      </p:sp>
      <p:sp>
        <p:nvSpPr>
          <p:cNvPr id="13" name="Code"/>
          <p:cNvSpPr txBox="1"/>
          <p:nvPr/>
        </p:nvSpPr>
        <p:spPr>
          <a:xfrm>
            <a:off x="179512" y="81930"/>
            <a:ext cx="4506875" cy="6694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"Pam-Sperre Gruppe TA"</a:t>
            </a:r>
            <a:r>
              <a:rPr lang="de-DE" sz="1300" dirty="0"/>
              <a:t> =&gt; </a:t>
            </a:r>
            <a:r>
              <a:rPr lang="de-DE" sz="1300" dirty="0">
                <a:solidFill>
                  <a:srgbClr val="0000CC"/>
                </a:solidFill>
              </a:rPr>
              <a:t>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„Mustergruppe"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DokumentenKlasse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"ABRECH"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DokumentenTyp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"RECHNUNG"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HatPamSperreBeiGruppe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"TA"</a:t>
            </a:r>
          </a:p>
          <a:p>
            <a:r>
              <a:rPr lang="de-DE" sz="1300" dirty="0"/>
              <a:t>}</a:t>
            </a:r>
          </a:p>
          <a:p>
            <a:endParaRPr lang="de-DE" sz="1300" dirty="0"/>
          </a:p>
          <a:p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"Pam-Sperre Gruppe Pflege"</a:t>
            </a:r>
            <a:r>
              <a:rPr lang="de-DE" sz="1300" dirty="0"/>
              <a:t> =&gt; </a:t>
            </a:r>
            <a:r>
              <a:rPr lang="de-DE" sz="1300" dirty="0">
                <a:solidFill>
                  <a:srgbClr val="0000CC"/>
                </a:solidFill>
              </a:rPr>
              <a:t>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„Andere Gruppe"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DokumentenKlasse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"ABRECH"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DokumentenTyp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"RECHNUNG"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HatPamSperreBeiGruppe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"Pflege"</a:t>
            </a:r>
          </a:p>
          <a:p>
            <a:r>
              <a:rPr lang="de-DE" sz="1300" dirty="0"/>
              <a:t>}</a:t>
            </a:r>
          </a:p>
          <a:p>
            <a:endParaRPr lang="de-DE" sz="1300" dirty="0"/>
          </a:p>
          <a:p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"Kennzeichen Basistarif"</a:t>
            </a:r>
            <a:r>
              <a:rPr lang="de-DE" sz="1300" dirty="0"/>
              <a:t> =&gt; </a:t>
            </a:r>
            <a:r>
              <a:rPr lang="de-DE" sz="1300" dirty="0">
                <a:solidFill>
                  <a:srgbClr val="0000CC"/>
                </a:solidFill>
              </a:rPr>
              <a:t>Benutzer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„Mustermann"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BasisKennzeichen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"B"</a:t>
            </a:r>
          </a:p>
          <a:p>
            <a:r>
              <a:rPr lang="de-DE" sz="1300" dirty="0"/>
              <a:t>}</a:t>
            </a:r>
          </a:p>
          <a:p>
            <a:endParaRPr lang="de-DE" sz="1300" dirty="0"/>
          </a:p>
          <a:p>
            <a:r>
              <a:rPr lang="de-DE" sz="1300" dirty="0">
                <a:solidFill>
                  <a:srgbClr val="0000CC"/>
                </a:solidFill>
              </a:rPr>
              <a:t>Klammer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"Kennzeichen Standardtarif"</a:t>
            </a:r>
          </a:p>
          <a:p>
            <a:r>
              <a:rPr lang="de-DE" sz="1300" dirty="0"/>
              <a:t>{</a:t>
            </a:r>
          </a:p>
          <a:p>
            <a:r>
              <a:rPr lang="de-DE" sz="1300" dirty="0"/>
              <a:t>    </a:t>
            </a:r>
            <a:r>
              <a:rPr lang="de-DE" sz="1300" dirty="0" err="1"/>
              <a:t>BasisKennzeichen</a:t>
            </a:r>
            <a:r>
              <a:rPr lang="de-DE" sz="1300" dirty="0"/>
              <a:t> = </a:t>
            </a:r>
            <a:r>
              <a:rPr lang="de-DE" sz="1300" dirty="0">
                <a:solidFill>
                  <a:schemeClr val="accent2"/>
                </a:solidFill>
              </a:rPr>
              <a:t>"S"</a:t>
            </a:r>
          </a:p>
          <a:p>
            <a:r>
              <a:rPr lang="de-DE" sz="1300" dirty="0"/>
              <a:t>    </a:t>
            </a:r>
          </a:p>
          <a:p>
            <a:r>
              <a:rPr lang="de-DE" sz="1300" dirty="0"/>
              <a:t>    </a:t>
            </a:r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"Name A bis M" </a:t>
            </a:r>
            <a:r>
              <a:rPr lang="de-DE" sz="1300" dirty="0"/>
              <a:t>=&gt; </a:t>
            </a:r>
            <a:r>
              <a:rPr lang="de-DE" sz="1300" dirty="0">
                <a:solidFill>
                  <a:srgbClr val="0000CC"/>
                </a:solidFill>
              </a:rPr>
              <a:t>Benutzer</a:t>
            </a:r>
            <a:r>
              <a:rPr lang="de-DE" sz="1300" dirty="0"/>
              <a:t> „Musterfrau"</a:t>
            </a:r>
          </a:p>
          <a:p>
            <a:r>
              <a:rPr lang="de-DE" sz="1300" dirty="0"/>
              <a:t>    {</a:t>
            </a:r>
          </a:p>
          <a:p>
            <a:r>
              <a:rPr lang="de-DE" sz="1300" dirty="0"/>
              <a:t>        Name zwischen </a:t>
            </a:r>
            <a:r>
              <a:rPr lang="de-DE" sz="1300" dirty="0">
                <a:solidFill>
                  <a:schemeClr val="accent2"/>
                </a:solidFill>
              </a:rPr>
              <a:t>"A"</a:t>
            </a:r>
            <a:r>
              <a:rPr lang="de-DE" sz="1300" dirty="0"/>
              <a:t> und </a:t>
            </a:r>
            <a:r>
              <a:rPr lang="de-DE" sz="1300" dirty="0">
                <a:solidFill>
                  <a:schemeClr val="accent2"/>
                </a:solidFill>
              </a:rPr>
              <a:t>"M"</a:t>
            </a:r>
          </a:p>
          <a:p>
            <a:r>
              <a:rPr lang="de-DE" sz="1300" dirty="0"/>
              <a:t>    }</a:t>
            </a:r>
          </a:p>
          <a:p>
            <a:r>
              <a:rPr lang="de-DE" sz="1300" dirty="0"/>
              <a:t>    </a:t>
            </a:r>
          </a:p>
          <a:p>
            <a:r>
              <a:rPr lang="de-DE" sz="1300" dirty="0"/>
              <a:t>    </a:t>
            </a:r>
            <a:r>
              <a:rPr lang="de-DE" sz="1300" dirty="0">
                <a:solidFill>
                  <a:srgbClr val="0000CC"/>
                </a:solidFill>
              </a:rPr>
              <a:t>Regel</a:t>
            </a:r>
            <a:r>
              <a:rPr lang="de-DE" sz="1300" dirty="0"/>
              <a:t> </a:t>
            </a:r>
            <a:r>
              <a:rPr lang="de-DE" sz="1300" dirty="0">
                <a:solidFill>
                  <a:schemeClr val="accent2"/>
                </a:solidFill>
              </a:rPr>
              <a:t>"Name N bis Z" </a:t>
            </a:r>
            <a:r>
              <a:rPr lang="de-DE" sz="1300" dirty="0"/>
              <a:t>=&gt; </a:t>
            </a:r>
            <a:r>
              <a:rPr lang="de-DE" sz="1300" dirty="0">
                <a:solidFill>
                  <a:srgbClr val="0000CC"/>
                </a:solidFill>
              </a:rPr>
              <a:t>Benutzer</a:t>
            </a:r>
            <a:r>
              <a:rPr lang="de-DE" sz="1300" dirty="0"/>
              <a:t> „Mustermann"</a:t>
            </a:r>
          </a:p>
          <a:p>
            <a:r>
              <a:rPr lang="de-DE" sz="1300" dirty="0"/>
              <a:t>    {</a:t>
            </a:r>
          </a:p>
          <a:p>
            <a:r>
              <a:rPr lang="de-DE" sz="1300" dirty="0"/>
              <a:t>        Name zwischen </a:t>
            </a:r>
            <a:r>
              <a:rPr lang="de-DE" sz="1300" dirty="0">
                <a:solidFill>
                  <a:schemeClr val="accent2"/>
                </a:solidFill>
              </a:rPr>
              <a:t>"N"</a:t>
            </a:r>
            <a:r>
              <a:rPr lang="de-DE" sz="1300" dirty="0"/>
              <a:t> und </a:t>
            </a:r>
            <a:r>
              <a:rPr lang="de-DE" sz="1300" dirty="0">
                <a:solidFill>
                  <a:schemeClr val="accent2"/>
                </a:solidFill>
              </a:rPr>
              <a:t>"Z"</a:t>
            </a:r>
          </a:p>
          <a:p>
            <a:r>
              <a:rPr lang="de-DE" sz="1300" dirty="0"/>
              <a:t>    }</a:t>
            </a:r>
          </a:p>
          <a:p>
            <a:r>
              <a:rPr lang="de-DE" sz="1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166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7" grpId="0"/>
      <p:bldP spid="19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F1B0AA8-45F9-842C-79B9-346A39CE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Qualitätskontrolle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91CE7B-4F76-2392-14BF-46A8112B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9174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7896" y="188640"/>
            <a:ext cx="4295216" cy="122413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61048"/>
            <a:ext cx="8893112" cy="2693267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689956"/>
            <a:ext cx="6632764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21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25153"/>
            <a:ext cx="9023565" cy="4234743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146501" y="538175"/>
            <a:ext cx="75392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>
                <a:solidFill>
                  <a:srgbClr val="1735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Generierte </a:t>
            </a:r>
            <a:r>
              <a:rPr lang="de-DE" sz="6000" b="1" dirty="0" err="1">
                <a:solidFill>
                  <a:srgbClr val="1735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Unittests</a:t>
            </a:r>
            <a:endParaRPr lang="de-DE" sz="6000" b="1" dirty="0">
              <a:solidFill>
                <a:srgbClr val="1735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954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843" y="255892"/>
            <a:ext cx="8690313" cy="6346215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42" y="243192"/>
            <a:ext cx="8940425" cy="6635738"/>
          </a:xfrm>
          <a:prstGeom prst="rect">
            <a:avLst/>
          </a:prstGeom>
        </p:spPr>
      </p:pic>
      <p:sp>
        <p:nvSpPr>
          <p:cNvPr id="24" name="Textfeld 23"/>
          <p:cNvSpPr txBox="1"/>
          <p:nvPr/>
        </p:nvSpPr>
        <p:spPr>
          <a:xfrm>
            <a:off x="3761168" y="107340"/>
            <a:ext cx="1621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% Kommentare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5799096" y="1273602"/>
            <a:ext cx="331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% Durchschnittliche Kommentare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6932171" y="3789040"/>
            <a:ext cx="218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Methoden pro Klasse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5017988" y="6262116"/>
            <a:ext cx="2279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Maximale Komplexität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2411760" y="6262116"/>
            <a:ext cx="1617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Maximale Tiefe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0" y="3789040"/>
            <a:ext cx="2332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Durchschnittliche Tiefe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766437" y="1273602"/>
            <a:ext cx="299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Durchschnittliche Komplexität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7232278" y="62621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35</a:t>
            </a:r>
          </a:p>
        </p:txBody>
      </p:sp>
      <p:sp>
        <p:nvSpPr>
          <p:cNvPr id="35" name="Rechteck 34"/>
          <p:cNvSpPr/>
          <p:nvPr/>
        </p:nvSpPr>
        <p:spPr>
          <a:xfrm>
            <a:off x="2411760" y="6262712"/>
            <a:ext cx="5197268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/>
          <p:cNvSpPr txBox="1"/>
          <p:nvPr/>
        </p:nvSpPr>
        <p:spPr>
          <a:xfrm>
            <a:off x="4039765" y="62621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7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282904" y="6262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2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4034036" y="62500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5611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5" grpId="0" animBg="1"/>
      <p:bldP spid="36" grpId="0"/>
      <p:bldP spid="36" grpId="1"/>
      <p:bldP spid="37" grpId="0"/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docs\IHK-Abschlussprojekt\Projektpräsentation\Bilder\EntwicklerdokuNET.pn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5817" y="0"/>
            <a:ext cx="46921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docs\IHK-Abschlussprojekt\Projektpräsentation\Bilder\EntwicklerdokuXte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6300" y="0"/>
            <a:ext cx="13131598" cy="6858000"/>
          </a:xfrm>
          <a:prstGeom prst="rect">
            <a:avLst/>
          </a:prstGeom>
          <a:noFill/>
          <a:ln w="63500" cmpd="sng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469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D7AF-77CB-78C7-FAFA-0F13FC17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2270C64-E064-3BAA-1881-6C9526AB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Zukunftsausblick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BCEF9C-B1CF-6553-E337-07775C88C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31474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38265" y="0"/>
            <a:ext cx="10514982" cy="7007249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-2340768" y="5517232"/>
            <a:ext cx="11521280" cy="1340768"/>
          </a:xfrm>
          <a:prstGeom prst="rect">
            <a:avLst/>
          </a:prstGeom>
          <a:solidFill>
            <a:srgbClr val="C4C4C4">
              <a:alpha val="4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5400">
                <a:solidFill>
                  <a:srgbClr val="17356C"/>
                </a:solidFill>
                <a:latin typeface="Arial Black" panose="020B0A04020102020204" pitchFamily="34" charset="0"/>
              </a:rPr>
              <a:t>Zielerreichung</a:t>
            </a:r>
            <a:endParaRPr lang="de-DE" sz="5400" dirty="0">
              <a:solidFill>
                <a:srgbClr val="17356C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771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3917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1115</Words>
  <Application>Microsoft Office PowerPoint</Application>
  <PresentationFormat>Bildschirmpräsentation (4:3)</PresentationFormat>
  <Paragraphs>349</Paragraphs>
  <Slides>43</Slides>
  <Notes>38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47" baseType="lpstr">
      <vt:lpstr>Arial</vt:lpstr>
      <vt:lpstr>Arial Black</vt:lpstr>
      <vt:lpstr>Calibri</vt:lpstr>
      <vt:lpstr>Larissa</vt:lpstr>
      <vt:lpstr>Präsentation  IHK-Winterprüfung 2025/2026</vt:lpstr>
      <vt:lpstr>Abschlussarbeit ETL-Programm</vt:lpstr>
      <vt:lpstr>Inhalte dieser Präsentation</vt:lpstr>
      <vt:lpstr>Projektumfeld </vt:lpstr>
      <vt:lpstr>Praktikumsbetrieb Standort Weinheim</vt:lpstr>
      <vt:lpstr>PowerPoint-Präsentation</vt:lpstr>
      <vt:lpstr>OpenTalos</vt:lpstr>
      <vt:lpstr>Geschäftsprozesse und Versionierung</vt:lpstr>
      <vt:lpstr>Projektbeschreibung</vt:lpstr>
      <vt:lpstr>Projektbegründung</vt:lpstr>
      <vt:lpstr>Projektziele</vt:lpstr>
      <vt:lpstr>PowerPoint-Präsentation</vt:lpstr>
      <vt:lpstr>PowerPoint-Präsentation</vt:lpstr>
      <vt:lpstr>PowerPoint-Präsentation</vt:lpstr>
      <vt:lpstr>PowerPoint-Präsentation</vt:lpstr>
      <vt:lpstr>Durchführung</vt:lpstr>
      <vt:lpstr>Phase 1</vt:lpstr>
      <vt:lpstr>Implementierung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Qualitätskontrolle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Zukunftsausblick</vt:lpstr>
      <vt:lpstr>PowerPoint-Präsentation</vt:lpstr>
      <vt:lpstr>PowerPoint-Präsentation</vt:lpstr>
    </vt:vector>
  </TitlesOfParts>
  <Company>ALTE OLDENBURGER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amshove</dc:creator>
  <cp:lastModifiedBy>Sven Kanter</cp:lastModifiedBy>
  <cp:revision>383</cp:revision>
  <dcterms:created xsi:type="dcterms:W3CDTF">2014-12-16T06:42:37Z</dcterms:created>
  <dcterms:modified xsi:type="dcterms:W3CDTF">2026-01-06T19:42:26Z</dcterms:modified>
</cp:coreProperties>
</file>